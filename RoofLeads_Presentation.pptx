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648"/>
  </p:normalViewPr>
  <p:slideViewPr>
    <p:cSldViewPr snapToGrid="0" snapToObjects="1">
      <p:cViewPr varScale="1">
        <p:scale>
          <a:sx n="117" d="100"/>
          <a:sy n="117" d="100"/>
        </p:scale>
        <p:origin x="264" y="16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42394F1-6E81-AD4A-816C-6D5C9A36D4E0}" type="datetimeFigureOut">
              <a:rPr lang="en-US" smtClean="0"/>
              <a:t>4/10/26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93184EE-E2E0-874C-8CD6-E5895AD1FDD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541789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93184EE-E2E0-874C-8CD6-E5895AD1FDDE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624188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4/10/26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4/10/26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4/10/26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4/10/26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4/10/26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4/10/26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4/10/26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717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182880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4400" b="1">
                <a:solidFill>
                  <a:srgbClr val="FFFFFF"/>
                </a:solidFill>
                <a:latin typeface="Calibri"/>
              </a:defRPr>
            </a:pPr>
            <a:r>
              <a:t>Roofing Lead Intelligence Platform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301752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2400" b="0">
                <a:solidFill>
                  <a:srgbClr val="A0A0A0"/>
                </a:solidFill>
                <a:latin typeface="Calibri"/>
              </a:defRPr>
            </a:pPr>
            <a:r>
              <a:t>AI-powered sales intelligence for roofing distributors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4114800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6B6B6B"/>
                </a:solidFill>
                <a:latin typeface="Consolas"/>
              </a:defRPr>
            </a:pPr>
            <a:r>
              <a:t>Scrape → Research → Score → Extract Contacts → Dashboard + Agentic Chat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303520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6B6B6B"/>
                </a:solidFill>
                <a:latin typeface="Calibri"/>
              </a:defRPr>
            </a:pPr>
            <a:r>
              <a:t>Aryaman Gupta  ·  Onsite Project  ·  Instalily AI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EFF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2004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100" b="0">
                <a:solidFill>
                  <a:srgbClr val="6B6B6B"/>
                </a:solidFill>
                <a:latin typeface="Calibri"/>
              </a:defRPr>
            </a:pPr>
            <a:r>
              <a:t>Roofing Lead Intelligence Platform — Aryaman Gupta | Instalily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22960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3600" b="1">
                <a:solidFill>
                  <a:srgbClr val="171717"/>
                </a:solidFill>
                <a:latin typeface="Calibri"/>
              </a:defRPr>
            </a:pPr>
            <a:r>
              <a:t>The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45920"/>
            <a:ext cx="106984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000">
                <a:solidFill>
                  <a:srgbClr val="171717"/>
                </a:solidFill>
                <a:latin typeface="Calibri"/>
              </a:defRPr>
            </a:pPr>
            <a:r>
              <a:t>•  Roofing distributors have no systematic way to identify and prioritize contractor leads</a:t>
            </a:r>
          </a:p>
          <a:p>
            <a:pPr>
              <a:spcAft>
                <a:spcPts val="1400"/>
              </a:spcAft>
              <a:defRPr sz="2000">
                <a:solidFill>
                  <a:srgbClr val="171717"/>
                </a:solidFill>
                <a:latin typeface="Calibri"/>
              </a:defRPr>
            </a:pPr>
            <a:r>
              <a:t>•  Sales reps spend hours manually researching contractors — Googling names, checking reviews, guessing who to call first</a:t>
            </a:r>
          </a:p>
          <a:p>
            <a:pPr>
              <a:spcAft>
                <a:spcPts val="1400"/>
              </a:spcAft>
              <a:defRPr sz="2000">
                <a:solidFill>
                  <a:srgbClr val="171717"/>
                </a:solidFill>
                <a:latin typeface="Calibri"/>
              </a:defRPr>
            </a:pPr>
            <a:r>
              <a:t>•  GAF’s public directory has rich contractor data, but it’s locked inside a JS-rendered, bot-protected website</a:t>
            </a:r>
          </a:p>
          <a:p>
            <a:pPr>
              <a:spcAft>
                <a:spcPts val="1400"/>
              </a:spcAft>
              <a:defRPr sz="2000">
                <a:solidFill>
                  <a:srgbClr val="171717"/>
                </a:solidFill>
                <a:latin typeface="Calibri"/>
              </a:defRPr>
            </a:pPr>
            <a:r>
              <a:t>•  No existing tool combines scraping + AI enrichment + actionable sales intelligence in one workflow</a:t>
            </a:r>
          </a:p>
          <a:p>
            <a:pPr>
              <a:spcAft>
                <a:spcPts val="1400"/>
              </a:spcAft>
              <a:defRPr sz="2000">
                <a:solidFill>
                  <a:srgbClr val="171717"/>
                </a:solidFill>
                <a:latin typeface="Calibri"/>
              </a:defRPr>
            </a:pPr>
            <a:r>
              <a:t>•  Without lead scoring, reps waste time on low-potential contractors while high-value leads go untouched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EFF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2004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100" b="0">
                <a:solidFill>
                  <a:srgbClr val="6B6B6B"/>
                </a:solidFill>
                <a:latin typeface="Calibri"/>
              </a:defRPr>
            </a:pPr>
            <a:r>
              <a:t>Roofing Lead Intelligence Platform — Aryaman Gupta | Instalily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22960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3600" b="1">
                <a:solidFill>
                  <a:srgbClr val="171717"/>
                </a:solidFill>
                <a:latin typeface="Calibri"/>
              </a:defRPr>
            </a:pPr>
            <a:r>
              <a:t>The Solution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55448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404040"/>
                </a:solidFill>
                <a:latin typeface="Calibri"/>
              </a:defRPr>
            </a:pPr>
            <a:r>
              <a:t>An end-to-end platform that scrapes, enriches, scores, and presents contractor leads — plus an agentic chat interface for natural-language exploration.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560320"/>
            <a:ext cx="2011680" cy="2743200"/>
          </a:xfrm>
          <a:prstGeom prst="rect">
            <a:avLst/>
          </a:prstGeom>
          <a:solidFill>
            <a:srgbClr val="FFFFFF"/>
          </a:solidFill>
          <a:ln w="12700">
            <a:solidFill>
              <a:srgbClr val="1717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40080" y="2743200"/>
            <a:ext cx="1645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2000" b="1">
                <a:solidFill>
                  <a:srgbClr val="171717"/>
                </a:solidFill>
                <a:latin typeface="Calibri"/>
              </a:defRPr>
            </a:pPr>
            <a:r>
              <a:t>Scrape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3337560"/>
            <a:ext cx="1645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404040"/>
                </a:solidFill>
                <a:latin typeface="Calibri"/>
              </a:defRPr>
            </a:pPr>
            <a:r>
              <a:t>Playwright + Coveo API</a:t>
            </a:r>
            <a:br/>
            <a:r>
              <a:t>interception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251960"/>
            <a:ext cx="1645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6B6B6B"/>
                </a:solidFill>
                <a:latin typeface="Consolas"/>
              </a:defRPr>
            </a:pPr>
            <a:r>
              <a:t>78 contractors from</a:t>
            </a:r>
            <a:br/>
            <a:r>
              <a:t>GAF directory</a:t>
            </a:r>
          </a:p>
        </p:txBody>
      </p:sp>
      <p:sp>
        <p:nvSpPr>
          <p:cNvPr id="9" name="Rectangle 8"/>
          <p:cNvSpPr/>
          <p:nvPr/>
        </p:nvSpPr>
        <p:spPr>
          <a:xfrm>
            <a:off x="2651760" y="2560320"/>
            <a:ext cx="2011680" cy="2743200"/>
          </a:xfrm>
          <a:prstGeom prst="rect">
            <a:avLst/>
          </a:prstGeom>
          <a:solidFill>
            <a:srgbClr val="FFFFFF"/>
          </a:solidFill>
          <a:ln w="12700">
            <a:solidFill>
              <a:srgbClr val="1717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2834640" y="2743200"/>
            <a:ext cx="1645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2000" b="1">
                <a:solidFill>
                  <a:srgbClr val="171717"/>
                </a:solidFill>
                <a:latin typeface="Calibri"/>
              </a:defRPr>
            </a:pPr>
            <a:r>
              <a:t>Research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834640" y="3337560"/>
            <a:ext cx="1645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404040"/>
                </a:solidFill>
                <a:latin typeface="Calibri"/>
              </a:defRPr>
            </a:pPr>
            <a:r>
              <a:t>Perplexity sonar-pro</a:t>
            </a:r>
            <a:br/>
            <a:r>
              <a:t>web research engine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834640" y="4251960"/>
            <a:ext cx="1645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6B6B6B"/>
                </a:solidFill>
                <a:latin typeface="Consolas"/>
              </a:defRPr>
            </a:pPr>
            <a:r>
              <a:t>Grounded insights with</a:t>
            </a:r>
            <a:br/>
            <a:r>
              <a:t>citations per lead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846320" y="2560320"/>
            <a:ext cx="2011680" cy="2743200"/>
          </a:xfrm>
          <a:prstGeom prst="rect">
            <a:avLst/>
          </a:prstGeom>
          <a:solidFill>
            <a:srgbClr val="FFFFFF"/>
          </a:solidFill>
          <a:ln w="12700">
            <a:solidFill>
              <a:srgbClr val="1717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5029200" y="2743200"/>
            <a:ext cx="1645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2000" b="1">
                <a:solidFill>
                  <a:srgbClr val="171717"/>
                </a:solidFill>
                <a:latin typeface="Calibri"/>
              </a:defRPr>
            </a:pPr>
            <a:r>
              <a:t>Score + Enrich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0" y="3337560"/>
            <a:ext cx="1645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404040"/>
                </a:solidFill>
                <a:latin typeface="Calibri"/>
              </a:defRPr>
            </a:pPr>
            <a:r>
              <a:t>Hybrid deterministic +</a:t>
            </a:r>
            <a:br/>
            <a:r>
              <a:t>LLM scoring (0–100)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0" y="4251960"/>
            <a:ext cx="1645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6B6B6B"/>
                </a:solidFill>
                <a:latin typeface="Consolas"/>
              </a:defRPr>
            </a:pPr>
            <a:r>
              <a:t>5-factor breakdown +</a:t>
            </a:r>
            <a:br/>
            <a:r>
              <a:t>talking points, emails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040880" y="2560320"/>
            <a:ext cx="2011680" cy="2743200"/>
          </a:xfrm>
          <a:prstGeom prst="rect">
            <a:avLst/>
          </a:prstGeom>
          <a:solidFill>
            <a:srgbClr val="FFFFFF"/>
          </a:solidFill>
          <a:ln w="12700">
            <a:solidFill>
              <a:srgbClr val="1717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7223760" y="2743200"/>
            <a:ext cx="1645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2000" b="1">
                <a:solidFill>
                  <a:srgbClr val="171717"/>
                </a:solidFill>
                <a:latin typeface="Calibri"/>
              </a:defRPr>
            </a:pPr>
            <a:r>
              <a:t>Dashboard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223760" y="3337560"/>
            <a:ext cx="1645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404040"/>
                </a:solidFill>
                <a:latin typeface="Calibri"/>
              </a:defRPr>
            </a:pPr>
            <a:r>
              <a:t>Next.js + FastAPI</a:t>
            </a:r>
            <a:br/>
            <a:r>
              <a:t>Instalily-branded UI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223760" y="4251960"/>
            <a:ext cx="1645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6B6B6B"/>
                </a:solidFill>
                <a:latin typeface="Consolas"/>
              </a:defRPr>
            </a:pPr>
            <a:r>
              <a:t>Filter, sort, drill into</a:t>
            </a:r>
            <a:br/>
            <a:r>
              <a:t>every lead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235440" y="2560320"/>
            <a:ext cx="2011680" cy="2743200"/>
          </a:xfrm>
          <a:prstGeom prst="rect">
            <a:avLst/>
          </a:prstGeom>
          <a:solidFill>
            <a:srgbClr val="FFFFFF"/>
          </a:solidFill>
          <a:ln w="12700">
            <a:solidFill>
              <a:srgbClr val="1717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9418320" y="2743200"/>
            <a:ext cx="1645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2000" b="1">
                <a:solidFill>
                  <a:srgbClr val="171717"/>
                </a:solidFill>
                <a:latin typeface="Calibri"/>
              </a:defRPr>
            </a:pPr>
            <a:r>
              <a:t>Agent Chat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418320" y="3337560"/>
            <a:ext cx="1645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404040"/>
                </a:solidFill>
                <a:latin typeface="Calibri"/>
              </a:defRPr>
            </a:pPr>
            <a:r>
              <a:t>OpenAI function calling</a:t>
            </a:r>
            <a:br/>
            <a:r>
              <a:t>agentic loop (4 tools)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418320" y="4251960"/>
            <a:ext cx="1645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6B6B6B"/>
                </a:solidFill>
                <a:latin typeface="Consolas"/>
              </a:defRPr>
            </a:pPr>
            <a:r>
              <a:t>Natural language queries</a:t>
            </a:r>
            <a:br/>
            <a:r>
              <a:t>over the leads DB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EFF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2004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100" b="0">
                <a:solidFill>
                  <a:srgbClr val="6B6B6B"/>
                </a:solidFill>
                <a:latin typeface="Calibri"/>
              </a:defRPr>
            </a:pPr>
            <a:r>
              <a:t>Roofing Lead Intelligence Platform — Aryaman Gupta | Instalily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22960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3600" b="1">
                <a:solidFill>
                  <a:srgbClr val="171717"/>
                </a:solidFill>
                <a:latin typeface="Calibri"/>
              </a:defRPr>
            </a:pPr>
            <a:r>
              <a:t>Architecture: Pipeline + API + Dashboard + Agent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2011680"/>
            <a:ext cx="1325880" cy="1051560"/>
          </a:xfrm>
          <a:prstGeom prst="rect">
            <a:avLst/>
          </a:prstGeom>
          <a:solidFill>
            <a:srgbClr val="40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GAF</a:t>
            </a:r>
            <a:br/>
            <a:r>
              <a:t>Website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91640" y="2240280"/>
            <a:ext cx="274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2600" b="1">
                <a:solidFill>
                  <a:srgbClr val="6B6B6B"/>
                </a:solidFill>
                <a:latin typeface="Calibri"/>
              </a:defRPr>
            </a:pPr>
            <a:r>
              <a:t>→</a:t>
            </a:r>
          </a:p>
        </p:txBody>
      </p:sp>
      <p:sp>
        <p:nvSpPr>
          <p:cNvPr id="6" name="Rectangle 5"/>
          <p:cNvSpPr/>
          <p:nvPr/>
        </p:nvSpPr>
        <p:spPr>
          <a:xfrm>
            <a:off x="1965960" y="2011680"/>
            <a:ext cx="1325880" cy="1051560"/>
          </a:xfrm>
          <a:prstGeom prst="rect">
            <a:avLst/>
          </a:prstGeom>
          <a:solidFill>
            <a:srgbClr val="0D9B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Playwright</a:t>
            </a:r>
            <a:br/>
            <a:r>
              <a:t>Scraper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91840" y="2240280"/>
            <a:ext cx="274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2600" b="1">
                <a:solidFill>
                  <a:srgbClr val="6B6B6B"/>
                </a:solidFill>
                <a:latin typeface="Calibri"/>
              </a:defRPr>
            </a:pPr>
            <a:r>
              <a:t>→</a:t>
            </a:r>
          </a:p>
        </p:txBody>
      </p:sp>
      <p:sp>
        <p:nvSpPr>
          <p:cNvPr id="8" name="Rectangle 7"/>
          <p:cNvSpPr/>
          <p:nvPr/>
        </p:nvSpPr>
        <p:spPr>
          <a:xfrm>
            <a:off x="3566160" y="2011680"/>
            <a:ext cx="1325880" cy="105156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Perplexity</a:t>
            </a:r>
            <a:br/>
            <a:r>
              <a:t>Research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892040" y="2240280"/>
            <a:ext cx="274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2600" b="1">
                <a:solidFill>
                  <a:srgbClr val="6B6B6B"/>
                </a:solidFill>
                <a:latin typeface="Calibri"/>
              </a:defRPr>
            </a:pPr>
            <a:r>
              <a:t>→</a:t>
            </a:r>
          </a:p>
        </p:txBody>
      </p:sp>
      <p:sp>
        <p:nvSpPr>
          <p:cNvPr id="10" name="Rectangle 9"/>
          <p:cNvSpPr/>
          <p:nvPr/>
        </p:nvSpPr>
        <p:spPr>
          <a:xfrm>
            <a:off x="5166360" y="2011680"/>
            <a:ext cx="1325880" cy="1051560"/>
          </a:xfrm>
          <a:prstGeom prst="rect">
            <a:avLst/>
          </a:prstGeom>
          <a:solidFill>
            <a:srgbClr val="EA880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OpenAI</a:t>
            </a:r>
            <a:br/>
            <a:r>
              <a:t>Scoring +</a:t>
            </a:r>
            <a:br/>
            <a:r>
              <a:t>Contacts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92240" y="2240280"/>
            <a:ext cx="274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2600" b="1">
                <a:solidFill>
                  <a:srgbClr val="6B6B6B"/>
                </a:solidFill>
                <a:latin typeface="Calibri"/>
              </a:defRPr>
            </a:pPr>
            <a:r>
              <a:t>→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766560" y="2011680"/>
            <a:ext cx="1325880" cy="1051560"/>
          </a:xfrm>
          <a:prstGeom prst="rect">
            <a:avLst/>
          </a:prstGeom>
          <a:solidFill>
            <a:srgbClr val="1683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SQLite</a:t>
            </a:r>
            <a:br/>
            <a:r>
              <a:t>Database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92440" y="2240280"/>
            <a:ext cx="274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2600" b="1">
                <a:solidFill>
                  <a:srgbClr val="6B6B6B"/>
                </a:solidFill>
                <a:latin typeface="Calibri"/>
              </a:defRPr>
            </a:pPr>
            <a:r>
              <a:t>→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366760" y="2011680"/>
            <a:ext cx="1325880" cy="1051560"/>
          </a:xfrm>
          <a:prstGeom prst="rect">
            <a:avLst/>
          </a:prstGeom>
          <a:solidFill>
            <a:srgbClr val="40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FastAPI</a:t>
            </a:r>
            <a:br/>
            <a:r>
              <a:t>REST API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92640" y="2240280"/>
            <a:ext cx="274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2600" b="1">
                <a:solidFill>
                  <a:srgbClr val="6B6B6B"/>
                </a:solidFill>
                <a:latin typeface="Calibri"/>
              </a:defRPr>
            </a:pPr>
            <a:r>
              <a:t>→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966960" y="2011680"/>
            <a:ext cx="1325880" cy="1051560"/>
          </a:xfrm>
          <a:prstGeom prst="rect">
            <a:avLst/>
          </a:prstGeom>
          <a:solidFill>
            <a:srgbClr val="1717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Next.js</a:t>
            </a:r>
            <a:br/>
            <a:r>
              <a:t>Dashboard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40880" y="324612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2600" b="1">
                <a:solidFill>
                  <a:srgbClr val="EA880E"/>
                </a:solidFill>
                <a:latin typeface="Calibri"/>
              </a:defRPr>
            </a:pPr>
            <a:r>
              <a:t>↑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26480" y="3566160"/>
            <a:ext cx="2560320" cy="731520"/>
          </a:xfrm>
          <a:prstGeom prst="rect">
            <a:avLst/>
          </a:prstGeom>
          <a:solidFill>
            <a:srgbClr val="EA880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Agentic Chat (OpenAI function calling)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" y="4572000"/>
            <a:ext cx="1069848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1500">
                <a:solidFill>
                  <a:srgbClr val="171717"/>
                </a:solidFill>
                <a:latin typeface="Calibri"/>
              </a:defRPr>
            </a:pPr>
            <a:r>
              <a:t>•  Pipeline runs offline — dashboard and chat never wait on scraping or LLM enrichment calls</a:t>
            </a:r>
          </a:p>
          <a:p>
            <a:pPr>
              <a:spcAft>
                <a:spcPts val="900"/>
              </a:spcAft>
              <a:defRPr sz="1500">
                <a:solidFill>
                  <a:srgbClr val="171717"/>
                </a:solidFill>
                <a:latin typeface="Calibri"/>
              </a:defRPr>
            </a:pPr>
            <a:r>
              <a:t>•  Each pipeline stage is independently runnable: re-score without re-researching, re-research without re-scraping</a:t>
            </a:r>
          </a:p>
          <a:p>
            <a:pPr>
              <a:spcAft>
                <a:spcPts val="900"/>
              </a:spcAft>
              <a:defRPr sz="1500">
                <a:solidFill>
                  <a:srgbClr val="171717"/>
                </a:solidFill>
                <a:latin typeface="Calibri"/>
              </a:defRPr>
            </a:pPr>
            <a:r>
              <a:t>•  Chat agent queries the same DB via FastAPI — same service layer, same filters, same data</a:t>
            </a:r>
          </a:p>
          <a:p>
            <a:pPr>
              <a:spcAft>
                <a:spcPts val="900"/>
              </a:spcAft>
              <a:defRPr sz="1500">
                <a:solidFill>
                  <a:srgbClr val="171717"/>
                </a:solidFill>
                <a:latin typeface="Calibri"/>
              </a:defRPr>
            </a:pPr>
            <a:r>
              <a:t>•  Clean separation: CLI for pipeline ops, REST API for reads, Next.js for presentation, Chat for exploration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EFF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2004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100" b="0">
                <a:solidFill>
                  <a:srgbClr val="6B6B6B"/>
                </a:solidFill>
                <a:latin typeface="Calibri"/>
              </a:defRPr>
            </a:pPr>
            <a:r>
              <a:t>Roofing Lead Intelligence Platform — Aryaman Gupta | Instalily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22960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3600" b="1">
                <a:solidFill>
                  <a:srgbClr val="171717"/>
                </a:solidFill>
                <a:latin typeface="Calibri"/>
              </a:defRPr>
            </a:pPr>
            <a:r>
              <a:t>Scraping: Playwright + Coveo API Interception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45920"/>
            <a:ext cx="106984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>
                <a:solidFill>
                  <a:srgbClr val="171717"/>
                </a:solidFill>
                <a:latin typeface="Calibri"/>
              </a:defRPr>
            </a:pPr>
            <a:r>
              <a:t>•  GAF’s site is JS-rendered and protected by Akamai bot detection — simple HTTP requests won’t work</a:t>
            </a:r>
          </a:p>
          <a:p>
            <a:pPr>
              <a:spcAft>
                <a:spcPts val="1200"/>
              </a:spcAft>
              <a:defRPr sz="1800">
                <a:solidFill>
                  <a:srgbClr val="171717"/>
                </a:solidFill>
                <a:latin typeface="Calibri"/>
              </a:defRPr>
            </a:pPr>
            <a:r>
              <a:t>•  Playwright launches headless Chromium with stealth settings (spoofed webdriver, plugins, permissions)</a:t>
            </a:r>
          </a:p>
          <a:p>
            <a:pPr>
              <a:spcAft>
                <a:spcPts val="1200"/>
              </a:spcAft>
              <a:defRPr sz="1800">
                <a:solidFill>
                  <a:srgbClr val="171717"/>
                </a:solidFill>
                <a:latin typeface="Calibri"/>
              </a:defRPr>
            </a:pPr>
            <a:r>
              <a:t>•  Key insight: Instead of fragile DOM parsing, we intercept the Coveo search-as-a-service API calls for clean JSON</a:t>
            </a:r>
          </a:p>
          <a:p>
            <a:pPr>
              <a:spcAft>
                <a:spcPts val="1200"/>
              </a:spcAft>
              <a:defRPr sz="1800">
                <a:solidFill>
                  <a:srgbClr val="171717"/>
                </a:solidFill>
                <a:latin typeface="Calibri"/>
              </a:defRPr>
            </a:pPr>
            <a:r>
              <a:t>•  Extract Bearer token from the first request, then paginate directly against Coveo’s REST API</a:t>
            </a:r>
          </a:p>
          <a:p>
            <a:pPr>
              <a:spcAft>
                <a:spcPts val="1200"/>
              </a:spcAft>
              <a:defRPr sz="1800">
                <a:solidFill>
                  <a:srgbClr val="171717"/>
                </a:solidFill>
                <a:latin typeface="Calibri"/>
              </a:defRPr>
            </a:pPr>
            <a:r>
              <a:t>•  Profile page scraping (configurable concurrency) extracts website URLs, years in business, about text</a:t>
            </a:r>
          </a:p>
          <a:p>
            <a:pPr>
              <a:spcAft>
                <a:spcPts val="1200"/>
              </a:spcAft>
              <a:defRPr sz="1800">
                <a:solidFill>
                  <a:srgbClr val="171717"/>
                </a:solidFill>
                <a:latin typeface="Calibri"/>
              </a:defRPr>
            </a:pPr>
            <a:r>
              <a:t>•  Parameterized: zip_code and distance are inputs — works for any territory, not hardcoded to 10013</a:t>
            </a:r>
          </a:p>
          <a:p>
            <a:pPr>
              <a:spcAft>
                <a:spcPts val="1200"/>
              </a:spcAft>
              <a:defRPr sz="1800">
                <a:solidFill>
                  <a:srgbClr val="171717"/>
                </a:solidFill>
                <a:latin typeface="Calibri"/>
              </a:defRPr>
            </a:pPr>
            <a:r>
              <a:t>•  Result: 78 contractors with name, address, phone, certification, rating, reviews, services, coordinates, distance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EFF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2004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100" b="0">
                <a:solidFill>
                  <a:srgbClr val="6B6B6B"/>
                </a:solidFill>
                <a:latin typeface="Calibri"/>
              </a:defRPr>
            </a:pPr>
            <a:r>
              <a:t>Roofing Lead Intelligence Platform — Aryaman Gupta | Instalily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22960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3600" b="1">
                <a:solidFill>
                  <a:srgbClr val="171717"/>
                </a:solidFill>
                <a:latin typeface="Calibri"/>
              </a:defRPr>
            </a:pPr>
            <a:r>
              <a:t>Three-Stage AI Enrichment Pipeline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554480"/>
            <a:ext cx="10698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404040"/>
                </a:solidFill>
                <a:latin typeface="Calibri"/>
              </a:defRPr>
            </a:pPr>
            <a:r>
              <a:t>Multiple LLMs, each doing what they’re best at. Stages run independently with --force, --limit, --concurrency flags.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2103120"/>
            <a:ext cx="73152" cy="1106424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05840" y="214884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171717"/>
                </a:solidFill>
                <a:latin typeface="Calibri"/>
              </a:defRPr>
            </a:pPr>
            <a:r>
              <a:t>Stage 1: Perplexity — Web Research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88720" y="2487168"/>
            <a:ext cx="9875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404040"/>
                </a:solidFill>
                <a:latin typeface="Calibri"/>
              </a:defRPr>
            </a:pPr>
            <a:r>
              <a:rPr dirty="0"/>
              <a:t>•  Queries Perplexity sonar-pro for each contractor: company overview, decision-makers, review sentiment, storm activity, growth signals, BBB, supplier intel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8240" y="2967228"/>
            <a:ext cx="9875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404040"/>
                </a:solidFill>
                <a:latin typeface="Calibri"/>
              </a:defRPr>
            </a:pPr>
            <a:r>
              <a:rPr dirty="0"/>
              <a:t>•  Returns grounded citations (URLs) alongside research text — reps can verify every claim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3300984"/>
            <a:ext cx="73152" cy="1408176"/>
          </a:xfrm>
          <a:prstGeom prst="rect">
            <a:avLst/>
          </a:prstGeom>
          <a:solidFill>
            <a:srgbClr val="EA880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005840" y="3346704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171717"/>
                </a:solidFill>
                <a:latin typeface="Calibri"/>
              </a:defRPr>
            </a:pPr>
            <a:r>
              <a:t>Stage 2: OpenAI — Hybrid Scoring + Insights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88720" y="3685032"/>
            <a:ext cx="9875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404040"/>
                </a:solidFill>
                <a:latin typeface="Calibri"/>
              </a:defRPr>
            </a:pPr>
            <a:r>
              <a:t>•  Deterministic (60/100 pts): certification tier (0–30), review volume log-scaled (0–20), rating quality (0–10)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4005072"/>
            <a:ext cx="9875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404040"/>
                </a:solidFill>
                <a:latin typeface="Calibri"/>
              </a:defRPr>
            </a:pPr>
            <a:r>
              <a:t>•  LLM-scored (40/100 pts): business signals (0–20) + why-now urgency (0–20) extracted from research text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20" y="4325112"/>
            <a:ext cx="9875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404040"/>
                </a:solidFill>
                <a:latin typeface="Calibri"/>
              </a:defRPr>
            </a:pPr>
            <a:r>
              <a:t>•  Also generates: talking points, buying signals, pain points, recommended pitch, draft outreach email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31520" y="4800600"/>
            <a:ext cx="73152" cy="1106424"/>
          </a:xfrm>
          <a:prstGeom prst="rect">
            <a:avLst/>
          </a:prstGeom>
          <a:solidFill>
            <a:srgbClr val="1683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1005840" y="484632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171717"/>
                </a:solidFill>
                <a:latin typeface="Calibri"/>
              </a:defRPr>
            </a:pPr>
            <a:r>
              <a:t>Stage 3: OpenAI — Contact Extraction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88720" y="5184648"/>
            <a:ext cx="9875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404040"/>
                </a:solidFill>
                <a:latin typeface="Calibri"/>
              </a:defRPr>
            </a:pPr>
            <a:r>
              <a:t>•  Extracts decision-maker contacts from research text: names, titles, emails, LinkedIn URLs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88720" y="5504688"/>
            <a:ext cx="9875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404040"/>
                </a:solidFill>
                <a:latin typeface="Calibri"/>
              </a:defRPr>
            </a:pPr>
            <a:r>
              <a:t>•  Provider-based architecture: PerplexityExtractor (implemented), Hunter.io (stub, ready to plug in)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EFF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2004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100" b="0">
                <a:solidFill>
                  <a:srgbClr val="6B6B6B"/>
                </a:solidFill>
                <a:latin typeface="Calibri"/>
              </a:defRPr>
            </a:pPr>
            <a:r>
              <a:t>Roofing Lead Intelligence Platform — Aryaman Gupta | Instalily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22960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3600" b="1">
                <a:solidFill>
                  <a:srgbClr val="171717"/>
                </a:solidFill>
                <a:latin typeface="Calibri"/>
              </a:defRPr>
            </a:pPr>
            <a:r>
              <a:t>Hybrid Scoring: Why Not Fully LLM or Fully Deterministic?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92024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2000" b="1">
                <a:solidFill>
                  <a:srgbClr val="0D9B8C"/>
                </a:solidFill>
                <a:latin typeface="Calibri"/>
              </a:defRPr>
            </a:pPr>
            <a:r>
              <a:rPr dirty="0"/>
              <a:t>Deterministic (60 pts — Python)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366554"/>
            <a:ext cx="50292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500">
                <a:solidFill>
                  <a:srgbClr val="171717"/>
                </a:solidFill>
                <a:latin typeface="Calibri"/>
              </a:defRPr>
            </a:pPr>
            <a:r>
              <a:rPr dirty="0"/>
              <a:t>•  </a:t>
            </a:r>
            <a:r>
              <a:rPr dirty="0" err="1"/>
              <a:t>certification_tier</a:t>
            </a:r>
            <a:r>
              <a:rPr dirty="0"/>
              <a:t> (0–30): President’s Club=30, Master Elite=25, Certified=15</a:t>
            </a:r>
          </a:p>
          <a:p>
            <a:pPr>
              <a:spcAft>
                <a:spcPts val="1000"/>
              </a:spcAft>
              <a:defRPr sz="1500">
                <a:solidFill>
                  <a:srgbClr val="171717"/>
                </a:solidFill>
                <a:latin typeface="Calibri"/>
              </a:defRPr>
            </a:pPr>
            <a:r>
              <a:rPr dirty="0"/>
              <a:t>•  </a:t>
            </a:r>
            <a:r>
              <a:rPr dirty="0" err="1"/>
              <a:t>review_volume</a:t>
            </a:r>
            <a:r>
              <a:rPr dirty="0"/>
              <a:t> (0–20): log-scaled from review count</a:t>
            </a:r>
          </a:p>
          <a:p>
            <a:pPr>
              <a:spcAft>
                <a:spcPts val="1000"/>
              </a:spcAft>
              <a:defRPr sz="1500">
                <a:solidFill>
                  <a:srgbClr val="171717"/>
                </a:solidFill>
                <a:latin typeface="Calibri"/>
              </a:defRPr>
            </a:pPr>
            <a:r>
              <a:rPr dirty="0"/>
              <a:t>•  </a:t>
            </a:r>
            <a:r>
              <a:rPr dirty="0" err="1"/>
              <a:t>rating_quality</a:t>
            </a:r>
            <a:r>
              <a:rPr dirty="0"/>
              <a:t> (0–10): star rating weighted by review confidence</a:t>
            </a:r>
          </a:p>
          <a:p>
            <a:pPr>
              <a:spcAft>
                <a:spcPts val="1000"/>
              </a:spcAft>
              <a:defRPr sz="1500">
                <a:solidFill>
                  <a:srgbClr val="171717"/>
                </a:solidFill>
                <a:latin typeface="Calibri"/>
              </a:defRPr>
            </a:pPr>
            <a:r>
              <a:rPr dirty="0"/>
              <a:t>•  Same input = same score. Costs $0. Fully auditable.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173736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2000" b="1">
                <a:solidFill>
                  <a:srgbClr val="EA880E"/>
                </a:solidFill>
                <a:latin typeface="Calibri"/>
              </a:defRPr>
            </a:pPr>
            <a:r>
              <a:t>LLM-Scored (40 pts — gpt-4o-mini)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2286000"/>
            <a:ext cx="50292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500">
                <a:solidFill>
                  <a:srgbClr val="171717"/>
                </a:solidFill>
                <a:latin typeface="Calibri"/>
              </a:defRPr>
            </a:pPr>
            <a:r>
              <a:rPr dirty="0"/>
              <a:t>•  </a:t>
            </a:r>
            <a:r>
              <a:rPr dirty="0" err="1"/>
              <a:t>business_signals</a:t>
            </a:r>
            <a:r>
              <a:rPr dirty="0"/>
              <a:t> (0–20): growth, hiring, expansion from research</a:t>
            </a:r>
          </a:p>
          <a:p>
            <a:pPr>
              <a:spcAft>
                <a:spcPts val="1000"/>
              </a:spcAft>
              <a:defRPr sz="1500">
                <a:solidFill>
                  <a:srgbClr val="171717"/>
                </a:solidFill>
                <a:latin typeface="Calibri"/>
              </a:defRPr>
            </a:pPr>
            <a:r>
              <a:rPr dirty="0"/>
              <a:t>•  </a:t>
            </a:r>
            <a:r>
              <a:rPr dirty="0" err="1"/>
              <a:t>why_now_urgency</a:t>
            </a:r>
            <a:r>
              <a:rPr dirty="0"/>
              <a:t> (0–20): storms, seasonal demand, supplier issues</a:t>
            </a:r>
          </a:p>
          <a:p>
            <a:pPr>
              <a:spcAft>
                <a:spcPts val="1000"/>
              </a:spcAft>
              <a:defRPr sz="1500">
                <a:solidFill>
                  <a:srgbClr val="171717"/>
                </a:solidFill>
                <a:latin typeface="Calibri"/>
              </a:defRPr>
            </a:pPr>
            <a:r>
              <a:rPr dirty="0"/>
              <a:t>•  Only an LLM can extract these from 3000 chars of unstructured text</a:t>
            </a:r>
          </a:p>
          <a:p>
            <a:pPr>
              <a:spcAft>
                <a:spcPts val="1000"/>
              </a:spcAft>
              <a:defRPr sz="1500">
                <a:solidFill>
                  <a:srgbClr val="171717"/>
                </a:solidFill>
                <a:latin typeface="Calibri"/>
              </a:defRPr>
            </a:pPr>
            <a:r>
              <a:rPr dirty="0"/>
              <a:t>•  ~$0.001 per contractor. All 78 leads scored for ~$0.05 total.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44805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171717"/>
                </a:solidFill>
                <a:latin typeface="Calibri"/>
              </a:defRPr>
            </a:pPr>
            <a:r>
              <a:t>Why this matters: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937760"/>
            <a:ext cx="1069848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171717"/>
                </a:solidFill>
                <a:latin typeface="Calibri"/>
              </a:defRPr>
            </a:pPr>
            <a:r>
              <a:t>•  Graceful degradation: if OpenAI is down, deterministic subtotal (60/100) still provides usable ranking</a:t>
            </a:r>
          </a:p>
          <a:p>
            <a:pPr>
              <a:spcAft>
                <a:spcPts val="800"/>
              </a:spcAft>
              <a:defRPr sz="1500">
                <a:solidFill>
                  <a:srgbClr val="171717"/>
                </a:solidFill>
                <a:latin typeface="Calibri"/>
              </a:defRPr>
            </a:pPr>
            <a:r>
              <a:t>•  Pre-computed deterministic scores passed to LLM as “locked — do not modify” — prevents hallucinated scores</a:t>
            </a:r>
          </a:p>
          <a:p>
            <a:pPr>
              <a:spcAft>
                <a:spcPts val="800"/>
              </a:spcAft>
              <a:defRPr sz="1500">
                <a:solidFill>
                  <a:srgbClr val="171717"/>
                </a:solidFill>
                <a:latin typeface="Calibri"/>
              </a:defRPr>
            </a:pPr>
            <a:r>
              <a:t>•  LLM scores clamped to valid ranges; final arithmetic enforced in Python (don’t trust the LLM’s addition)</a:t>
            </a:r>
          </a:p>
          <a:p>
            <a:pPr>
              <a:spcAft>
                <a:spcPts val="800"/>
              </a:spcAft>
              <a:defRPr sz="1500">
                <a:solidFill>
                  <a:srgbClr val="171717"/>
                </a:solidFill>
                <a:latin typeface="Calibri"/>
              </a:defRPr>
            </a:pPr>
            <a:r>
              <a:t>•  response_format={"type": "json_object"} guarantees parseable output every time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EFF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2004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100" b="0">
                <a:solidFill>
                  <a:srgbClr val="6B6B6B"/>
                </a:solidFill>
                <a:latin typeface="Calibri"/>
              </a:defRPr>
            </a:pPr>
            <a:r>
              <a:t>Roofing Lead Intelligence Platform — Aryaman Gupta | Instalily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22960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3600" b="1">
                <a:solidFill>
                  <a:srgbClr val="171717"/>
                </a:solidFill>
                <a:latin typeface="Calibri"/>
              </a:defRPr>
            </a:pPr>
            <a:r>
              <a:t>Agentic Chat: Natural Language Over the Leads DB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554480"/>
            <a:ext cx="10698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404040"/>
                </a:solidFill>
                <a:latin typeface="Calibri"/>
              </a:defRPr>
            </a:pPr>
            <a:r>
              <a:t>Sales reps can ask questions in plain English. The LLM decides which tools to call, executes them, and iterates until it has an answer.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1945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404040"/>
                </a:solidFill>
                <a:latin typeface="Consolas"/>
              </a:defRPr>
            </a:pPr>
            <a:r>
              <a:t>User  →  Next.js ChatPanel  →  POST /api/chat  →  Agent Loop (up to 5 rounds):  LLM decides → Tool call → Result → LLM decides → … → Final text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2834640"/>
            <a:ext cx="2468880" cy="1645920"/>
          </a:xfrm>
          <a:prstGeom prst="rect">
            <a:avLst/>
          </a:prstGeom>
          <a:solidFill>
            <a:srgbClr val="FFFFFF"/>
          </a:solidFill>
          <a:ln w="12700">
            <a:solidFill>
              <a:srgbClr val="1717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85800" y="2971800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71717"/>
                </a:solidFill>
                <a:latin typeface="Consolas"/>
              </a:defRPr>
            </a:pPr>
            <a:r>
              <a:t>search_leads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3383280"/>
            <a:ext cx="21945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404040"/>
                </a:solidFill>
                <a:latin typeface="Calibri"/>
              </a:defRPr>
            </a:pPr>
            <a:r>
              <a:t>Search &amp; filter the leads database</a:t>
            </a:r>
            <a:br/>
            <a:r>
              <a:t>with score, certification, name, sort, pagination</a:t>
            </a:r>
          </a:p>
        </p:txBody>
      </p:sp>
      <p:sp>
        <p:nvSpPr>
          <p:cNvPr id="9" name="Rectangle 8"/>
          <p:cNvSpPr/>
          <p:nvPr/>
        </p:nvSpPr>
        <p:spPr>
          <a:xfrm>
            <a:off x="3291840" y="2834640"/>
            <a:ext cx="2468880" cy="1645920"/>
          </a:xfrm>
          <a:prstGeom prst="rect">
            <a:avLst/>
          </a:prstGeom>
          <a:solidFill>
            <a:srgbClr val="FFFFFF"/>
          </a:solidFill>
          <a:ln w="12700">
            <a:solidFill>
              <a:srgbClr val="1717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429000" y="2971800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71717"/>
                </a:solidFill>
                <a:latin typeface="Consolas"/>
              </a:defRPr>
            </a:pPr>
            <a:r>
              <a:t>get_lead_detail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29000" y="3383280"/>
            <a:ext cx="21945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404040"/>
                </a:solidFill>
                <a:latin typeface="Calibri"/>
              </a:defRPr>
            </a:pPr>
            <a:r>
              <a:t>Full detail for one contractor:</a:t>
            </a:r>
            <a:br/>
            <a:r>
              <a:t>insights, score breakdown, talking points, contacts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035040" y="2834640"/>
            <a:ext cx="2468880" cy="1645920"/>
          </a:xfrm>
          <a:prstGeom prst="rect">
            <a:avLst/>
          </a:prstGeom>
          <a:solidFill>
            <a:srgbClr val="FFFFFF"/>
          </a:solidFill>
          <a:ln w="12700">
            <a:solidFill>
              <a:srgbClr val="1717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172200" y="2971800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71717"/>
                </a:solidFill>
                <a:latin typeface="Consolas"/>
              </a:defRPr>
            </a:pPr>
            <a:r>
              <a:t>get_stats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72200" y="3383280"/>
            <a:ext cx="21945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404040"/>
                </a:solidFill>
                <a:latin typeface="Calibri"/>
              </a:defRPr>
            </a:pPr>
            <a:r>
              <a:t>Aggregate dashboard statistics:</a:t>
            </a:r>
            <a:br/>
            <a:r>
              <a:t>totals, averages, cert breakdown, score distribution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778240" y="2834640"/>
            <a:ext cx="2468880" cy="1645920"/>
          </a:xfrm>
          <a:prstGeom prst="rect">
            <a:avLst/>
          </a:prstGeom>
          <a:solidFill>
            <a:srgbClr val="FFFFFF"/>
          </a:solidFill>
          <a:ln w="12700">
            <a:solidFill>
              <a:srgbClr val="1717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915400" y="2971800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71717"/>
                </a:solidFill>
                <a:latin typeface="Consolas"/>
              </a:defRPr>
            </a:pPr>
            <a:r>
              <a:t>compare_leads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15400" y="3383280"/>
            <a:ext cx="21945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404040"/>
                </a:solidFill>
                <a:latin typeface="Calibri"/>
              </a:defRPr>
            </a:pPr>
            <a:r>
              <a:t>Side-by-side comparison of 2–3 leads</a:t>
            </a:r>
            <a:br/>
            <a:r>
              <a:t>on score, certification, signals, insights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4754880"/>
            <a:ext cx="106984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1500">
                <a:solidFill>
                  <a:srgbClr val="171717"/>
                </a:solidFill>
                <a:latin typeface="Calibri"/>
              </a:defRPr>
            </a:pPr>
            <a:r>
              <a:t>•  OpenAI function calling with tool_choice="auto" — LLM chains multiple tools in a single turn</a:t>
            </a:r>
          </a:p>
          <a:p>
            <a:pPr>
              <a:spcAft>
                <a:spcPts val="900"/>
              </a:spcAft>
              <a:defRPr sz="1500">
                <a:solidFill>
                  <a:srgbClr val="171717"/>
                </a:solidFill>
                <a:latin typeface="Calibri"/>
              </a:defRPr>
            </a:pPr>
            <a:r>
              <a:t>•  Domain-aware system prompt: knows GAF tiers, score components, product categories, lead temperature thresholds</a:t>
            </a:r>
          </a:p>
          <a:p>
            <a:pPr>
              <a:spcAft>
                <a:spcPts val="900"/>
              </a:spcAft>
              <a:defRPr sz="1500">
                <a:solidFill>
                  <a:srgbClr val="171717"/>
                </a:solidFill>
                <a:latin typeface="Calibri"/>
              </a:defRPr>
            </a:pPr>
            <a:r>
              <a:t>•  Tools dispatch to the same service layer as the REST API — one source of truth, no data divergence</a:t>
            </a:r>
          </a:p>
          <a:p>
            <a:pPr>
              <a:spcAft>
                <a:spcPts val="900"/>
              </a:spcAft>
              <a:defRPr sz="1500">
                <a:solidFill>
                  <a:srgbClr val="171717"/>
                </a:solidFill>
                <a:latin typeface="Calibri"/>
              </a:defRPr>
            </a:pPr>
            <a:r>
              <a:t>•  Floating chat bubble UI with markdown rendering, loading animation, conversation history</a:t>
            </a:r>
          </a:p>
          <a:p>
            <a:pPr>
              <a:spcAft>
                <a:spcPts val="900"/>
              </a:spcAft>
              <a:defRPr sz="1500">
                <a:solidFill>
                  <a:srgbClr val="171717"/>
                </a:solidFill>
                <a:latin typeface="Calibri"/>
              </a:defRPr>
            </a:pPr>
            <a:r>
              <a:t>•  Example: "Who are the top 5 Master Elite contractors near me?" → search_leads(certification="Master Elite", sort_by="lead_score", per_page=5)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EFF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2004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100" b="0">
                <a:solidFill>
                  <a:srgbClr val="6B6B6B"/>
                </a:solidFill>
                <a:latin typeface="Calibri"/>
              </a:defRPr>
            </a:pPr>
            <a:r>
              <a:t>Roofing Lead Intelligence Platform — Aryaman Gupta | Instalily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22960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3600" b="1">
                <a:solidFill>
                  <a:srgbClr val="171717"/>
                </a:solidFill>
                <a:latin typeface="Calibri"/>
              </a:defRPr>
            </a:pPr>
            <a:r>
              <a:t>Data Management: Three-Table Schema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737360"/>
            <a:ext cx="3291840" cy="320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1717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914400" y="187452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171717"/>
                </a:solidFill>
                <a:latin typeface="Consolas"/>
              </a:defRPr>
            </a:pPr>
            <a:r>
              <a:t>contractors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194560"/>
            <a:ext cx="29260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6B6B6B"/>
                </a:solidFill>
                <a:latin typeface="Consolas"/>
              </a:defRPr>
            </a:pPr>
            <a:r>
              <a:t>23 columns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51460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404040"/>
                </a:solidFill>
                <a:latin typeface="Calibri"/>
              </a:defRPr>
            </a:pPr>
            <a:r>
              <a:t>•  Raw scraped data from GAF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862072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404040"/>
                </a:solidFill>
                <a:latin typeface="Calibri"/>
              </a:defRPr>
            </a:pPr>
            <a:r>
              <a:t>•  gaf_id as dedupe key (upserts)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3209544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404040"/>
                </a:solidFill>
                <a:latin typeface="Calibri"/>
              </a:defRPr>
            </a:pPr>
            <a:r>
              <a:t>•  Name, address, phone, website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557016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404040"/>
                </a:solidFill>
                <a:latin typeface="Calibri"/>
              </a:defRPr>
            </a:pPr>
            <a:r>
              <a:t>•  Certification, rating, reviews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904488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404040"/>
                </a:solidFill>
                <a:latin typeface="Calibri"/>
              </a:defRPr>
            </a:pPr>
            <a:r>
              <a:t>•  Lat/lng, distance, services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425196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404040"/>
                </a:solidFill>
                <a:latin typeface="Calibri"/>
              </a:defRPr>
            </a:pPr>
            <a:r>
              <a:t>•  Years in business, about text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89120" y="1737360"/>
            <a:ext cx="3291840" cy="320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1717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572000" y="187452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171717"/>
                </a:solidFill>
                <a:latin typeface="Consolas"/>
              </a:defRPr>
            </a:pPr>
            <a:r>
              <a:t>lead_insights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0" y="2194560"/>
            <a:ext cx="29260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6B6B6B"/>
                </a:solidFill>
                <a:latin typeface="Consolas"/>
              </a:defRPr>
            </a:pPr>
            <a:r>
              <a:t>15 columns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0" y="251460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404040"/>
                </a:solidFill>
                <a:latin typeface="Calibri"/>
              </a:defRPr>
            </a:pPr>
            <a:r>
              <a:t>•  AI-generated enrichments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0" y="2862072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404040"/>
                </a:solidFill>
                <a:latin typeface="Calibri"/>
              </a:defRPr>
            </a:pPr>
            <a:r>
              <a:t>•  1:1 with contractor (UNIQUE FK)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0" y="3209544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404040"/>
                </a:solidFill>
                <a:latin typeface="Calibri"/>
              </a:defRPr>
            </a:pPr>
            <a:r>
              <a:t>•  lead_score (0–100)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0" y="3557016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404040"/>
                </a:solidFill>
                <a:latin typeface="Calibri"/>
              </a:defRPr>
            </a:pPr>
            <a:r>
              <a:t>•  score_breakdown (5-factor JSON)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0" y="3904488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404040"/>
                </a:solidFill>
                <a:latin typeface="Calibri"/>
              </a:defRPr>
            </a:pPr>
            <a:r>
              <a:t>•  Talking points, buying signals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0" y="425196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404040"/>
                </a:solidFill>
                <a:latin typeface="Calibri"/>
              </a:defRPr>
            </a:pPr>
            <a:r>
              <a:t>•  Why now, draft email, pitch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046720" y="1737360"/>
            <a:ext cx="3291840" cy="320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1717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8229600" y="187452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171717"/>
                </a:solidFill>
                <a:latin typeface="Consolas"/>
              </a:defRPr>
            </a:pPr>
            <a:r>
              <a:t>contacts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29600" y="2194560"/>
            <a:ext cx="29260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6B6B6B"/>
                </a:solidFill>
                <a:latin typeface="Consolas"/>
              </a:defRPr>
            </a:pPr>
            <a:r>
              <a:t>10 columns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29600" y="251460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404040"/>
                </a:solidFill>
                <a:latin typeface="Calibri"/>
              </a:defRPr>
            </a:pPr>
            <a:r>
              <a:t>•  Decision-maker contacts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29600" y="2862072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404040"/>
                </a:solidFill>
                <a:latin typeface="Calibri"/>
              </a:defRPr>
            </a:pPr>
            <a:r>
              <a:t>•  Many-to-one with contractor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29600" y="3209544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404040"/>
                </a:solidFill>
                <a:latin typeface="Calibri"/>
              </a:defRPr>
            </a:pPr>
            <a:r>
              <a:t>•  Name, title, email, phone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29600" y="3557016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404040"/>
                </a:solidFill>
                <a:latin typeface="Calibri"/>
              </a:defRPr>
            </a:pPr>
            <a:r>
              <a:t>•  LinkedIn URL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29600" y="3904488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404040"/>
                </a:solidFill>
                <a:latin typeface="Calibri"/>
              </a:defRPr>
            </a:pPr>
            <a:r>
              <a:t>•  Source + confidence level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29600" y="425196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404040"/>
                </a:solidFill>
                <a:latin typeface="Calibri"/>
              </a:defRPr>
            </a:pPr>
            <a:r>
              <a:t>•  Deduped by name + contractor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31520" y="5212080"/>
            <a:ext cx="106984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171717"/>
                </a:solidFill>
                <a:latin typeface="Calibri"/>
              </a:defRPr>
            </a:pPr>
            <a:r>
              <a:t>•  SQLAlchemy ORM — swap SQLite for Postgres by changing one connection string</a:t>
            </a:r>
          </a:p>
          <a:p>
            <a:pPr>
              <a:spcAft>
                <a:spcPts val="800"/>
              </a:spcAft>
              <a:defRPr sz="1500">
                <a:solidFill>
                  <a:srgbClr val="171717"/>
                </a:solidFill>
                <a:latin typeface="Calibri"/>
              </a:defRPr>
            </a:pPr>
            <a:r>
              <a:t>•  JSON fields stored as TEXT (SQLite-compatible), become native JSONB with GIN indexes in Postgres</a:t>
            </a:r>
          </a:p>
          <a:p>
            <a:pPr>
              <a:spcAft>
                <a:spcPts val="800"/>
              </a:spcAft>
              <a:defRPr sz="1500">
                <a:solidFill>
                  <a:srgbClr val="171717"/>
                </a:solidFill>
                <a:latin typeface="Calibri"/>
              </a:defRPr>
            </a:pPr>
            <a:r>
              <a:t>•  Three tables enable independent re-processing: re-score without re-researching, re-research without re-scraping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EFF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2004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100" b="0">
                <a:solidFill>
                  <a:srgbClr val="6B6B6B"/>
                </a:solidFill>
                <a:latin typeface="Calibri"/>
              </a:defRPr>
            </a:pPr>
            <a:r>
              <a:t>Roofing Lead Intelligence Platform — Aryaman Gupta | Instalily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3600" b="1">
                <a:solidFill>
                  <a:srgbClr val="171717"/>
                </a:solidFill>
                <a:latin typeface="Calibri"/>
              </a:defRPr>
            </a:pPr>
            <a:r>
              <a:rPr dirty="0"/>
              <a:t>REST API: 7 Endpoints, 11+ Schemas, 3-Tier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737360"/>
            <a:ext cx="640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6835E"/>
                </a:solidFill>
                <a:latin typeface="Consolas"/>
              </a:defRPr>
            </a:pPr>
            <a:r>
              <a:t>GET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173736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171717"/>
                </a:solidFill>
                <a:latin typeface="Consolas"/>
              </a:defRPr>
            </a:pPr>
            <a:r>
              <a:t>/api/leads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840480" y="1737360"/>
            <a:ext cx="7772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404040"/>
                </a:solidFill>
                <a:latin typeface="Calibri"/>
              </a:defRPr>
            </a:pPr>
            <a:r>
              <a:rPr dirty="0"/>
              <a:t>Paginated list with filters (score range, cert, search), multi-column sorting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212848"/>
            <a:ext cx="640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6835E"/>
                </a:solidFill>
                <a:latin typeface="Consolas"/>
              </a:defRPr>
            </a:pPr>
            <a:r>
              <a:t>GET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2212848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171717"/>
                </a:solidFill>
                <a:latin typeface="Consolas"/>
              </a:defRPr>
            </a:pPr>
            <a:r>
              <a:t>/api/leads/{id}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840480" y="2212848"/>
            <a:ext cx="7772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404040"/>
                </a:solidFill>
                <a:latin typeface="Calibri"/>
              </a:defRPr>
            </a:pPr>
            <a:r>
              <a:t>Full detail: contractor + insights + contacts (eager-loaded joins)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2688336"/>
            <a:ext cx="640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6835E"/>
                </a:solidFill>
                <a:latin typeface="Consolas"/>
              </a:defRPr>
            </a:pPr>
            <a:r>
              <a:t>GET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71600" y="2688336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171717"/>
                </a:solidFill>
                <a:latin typeface="Consolas"/>
              </a:defRPr>
            </a:pPr>
            <a:r>
              <a:t>/api/stats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40480" y="2688336"/>
            <a:ext cx="7772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404040"/>
                </a:solidFill>
                <a:latin typeface="Calibri"/>
              </a:defRPr>
            </a:pPr>
            <a:r>
              <a:t>Dashboard metrics: totals, averages, cert breakdown, score distribution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3163824"/>
            <a:ext cx="640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EA880E"/>
                </a:solidFill>
                <a:latin typeface="Consolas"/>
              </a:defRPr>
            </a:pPr>
            <a:r>
              <a:t>POST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71600" y="3163824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171717"/>
                </a:solidFill>
                <a:latin typeface="Consolas"/>
              </a:defRPr>
            </a:pPr>
            <a:r>
              <a:t>/api/chat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40480" y="3163824"/>
            <a:ext cx="7772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404040"/>
                </a:solidFill>
                <a:latin typeface="Calibri"/>
              </a:defRPr>
            </a:pPr>
            <a:r>
              <a:t>Agentic chat — natural language queries with OpenAI function calling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3639312"/>
            <a:ext cx="640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EA880E"/>
                </a:solidFill>
                <a:latin typeface="Consolas"/>
              </a:defRPr>
            </a:pPr>
            <a:r>
              <a:t>POST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71600" y="3639312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171717"/>
                </a:solidFill>
                <a:latin typeface="Consolas"/>
              </a:defRPr>
            </a:pPr>
            <a:r>
              <a:t>/api/pipeline/scrape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840480" y="3639312"/>
            <a:ext cx="7772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404040"/>
                </a:solidFill>
                <a:latin typeface="Calibri"/>
              </a:defRPr>
            </a:pPr>
            <a:r>
              <a:t>Trigger scraping for any zip_code + distance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" y="4114800"/>
            <a:ext cx="640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EA880E"/>
                </a:solidFill>
                <a:latin typeface="Consolas"/>
              </a:defRPr>
            </a:pPr>
            <a:r>
              <a:t>POST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411480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171717"/>
                </a:solidFill>
                <a:latin typeface="Consolas"/>
              </a:defRPr>
            </a:pPr>
            <a:r>
              <a:t>/api/pipeline/enrich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840480" y="4114800"/>
            <a:ext cx="7772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404040"/>
                </a:solidFill>
                <a:latin typeface="Calibri"/>
              </a:defRPr>
            </a:pPr>
            <a:r>
              <a:t>Run all 3 enrichment stages sequentially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1520" y="4590288"/>
            <a:ext cx="640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6835E"/>
                </a:solidFill>
                <a:latin typeface="Consolas"/>
              </a:defRPr>
            </a:pPr>
            <a:r>
              <a:t>GET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71600" y="4590288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171717"/>
                </a:solidFill>
                <a:latin typeface="Consolas"/>
              </a:defRPr>
            </a:pPr>
            <a:r>
              <a:t>/api/pipeline/status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840480" y="4590288"/>
            <a:ext cx="7772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404040"/>
                </a:solidFill>
                <a:latin typeface="Calibri"/>
              </a:defRPr>
            </a:pPr>
            <a:r>
              <a:t>Pipeline health: how many awaiting research/scoring/contacts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1520" y="5212080"/>
            <a:ext cx="1069848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400">
                <a:solidFill>
                  <a:srgbClr val="171717"/>
                </a:solidFill>
                <a:latin typeface="Calibri"/>
              </a:defRPr>
            </a:pPr>
            <a:r>
              <a:t>•  Schemas: 11 Pydantic models enforce type safety. Separate list vs. detail schemas avoid serializing multi-KB fields per row.</a:t>
            </a:r>
          </a:p>
          <a:p>
            <a:pPr>
              <a:spcAft>
                <a:spcPts val="700"/>
              </a:spcAft>
              <a:defRPr sz="1400">
                <a:solidFill>
                  <a:srgbClr val="171717"/>
                </a:solidFill>
                <a:latin typeface="Calibri"/>
              </a:defRPr>
            </a:pPr>
            <a:r>
              <a:t>•  Service layer: Isolates SQLAlchemy query logic. NULL-safe ordering, CASE WHEN bucketing for stats.</a:t>
            </a:r>
          </a:p>
          <a:p>
            <a:pPr>
              <a:spcAft>
                <a:spcPts val="700"/>
              </a:spcAft>
              <a:defRPr sz="1400">
                <a:solidFill>
                  <a:srgbClr val="171717"/>
                </a:solidFill>
                <a:latin typeface="Calibri"/>
              </a:defRPr>
            </a:pPr>
            <a:r>
              <a:t>•  All handlers sync def — enricher uses asyncio.run() internally; FastAPI runs sync handlers in a thread pool.</a:t>
            </a:r>
          </a:p>
          <a:p>
            <a:pPr>
              <a:spcAft>
                <a:spcPts val="700"/>
              </a:spcAft>
              <a:defRPr sz="1400">
                <a:solidFill>
                  <a:srgbClr val="171717"/>
                </a:solidFill>
                <a:latin typeface="Calibri"/>
              </a:defRPr>
            </a:pPr>
            <a:r>
              <a:t>•  Column whitelist prevents SQL injection via dynamic sort. per_page capped at 100.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EFF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2004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100" b="0">
                <a:solidFill>
                  <a:srgbClr val="6B6B6B"/>
                </a:solidFill>
                <a:latin typeface="Calibri"/>
              </a:defRPr>
            </a:pPr>
            <a:r>
              <a:t>Roofing Lead Intelligence Platform — Aryaman Gupta | Instalily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22960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3600" b="1">
                <a:solidFill>
                  <a:srgbClr val="171717"/>
                </a:solidFill>
                <a:latin typeface="Calibri"/>
              </a:defRPr>
            </a:pPr>
            <a:r>
              <a:t>Dashboard: Instalily-Branded UI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45920"/>
            <a:ext cx="106984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  <a:defRPr sz="1700">
                <a:solidFill>
                  <a:srgbClr val="171717"/>
                </a:solidFill>
                <a:latin typeface="Calibri"/>
              </a:defRPr>
            </a:pPr>
            <a:r>
              <a:t>•  Instalily design language: IBM Plex Sans/Mono, off-white #FEFFF7, sharp black borders, monospace uppercase section eyebrows</a:t>
            </a:r>
          </a:p>
          <a:p>
            <a:pPr>
              <a:spcAft>
                <a:spcPts val="1100"/>
              </a:spcAft>
              <a:defRPr sz="1700">
                <a:solidFill>
                  <a:srgbClr val="171717"/>
                </a:solidFill>
                <a:latin typeface="Calibri"/>
              </a:defRPr>
            </a:pPr>
            <a:r>
              <a:t>•  StatsBar: 4 metric cells (Total Leads, Top Leads, Avg Score, Enriched) in sharp-bordered grid</a:t>
            </a:r>
          </a:p>
          <a:p>
            <a:pPr>
              <a:spcAft>
                <a:spcPts val="1100"/>
              </a:spcAft>
              <a:defRPr sz="1700">
                <a:solidFill>
                  <a:srgbClr val="171717"/>
                </a:solidFill>
                <a:latin typeface="Calibri"/>
              </a:defRPr>
            </a:pPr>
            <a:r>
              <a:t>•  FilterBar: Inline score-tier pills (Hot 60+ / Warm / Cold) + certification pills + debounced text search (300ms)</a:t>
            </a:r>
          </a:p>
          <a:p>
            <a:pPr>
              <a:spcAft>
                <a:spcPts val="1100"/>
              </a:spcAft>
              <a:defRPr sz="1700">
                <a:solidFill>
                  <a:srgbClr val="171717"/>
                </a:solidFill>
                <a:latin typeface="Calibri"/>
              </a:defRPr>
            </a:pPr>
            <a:r>
              <a:t>•  LeadTable: Sortable columns (score, name, volume, distance) with paginated rows, ScorePill + CertBadge inline</a:t>
            </a:r>
          </a:p>
          <a:p>
            <a:pPr>
              <a:spcAft>
                <a:spcPts val="1100"/>
              </a:spcAft>
              <a:defRPr sz="1700">
                <a:solidFill>
                  <a:srgbClr val="171717"/>
                </a:solidFill>
                <a:latin typeface="Calibri"/>
              </a:defRPr>
            </a:pPr>
            <a:r>
              <a:t>•  All filter/sort/page state synced to URL query params — every view is bookmarkable and shareable</a:t>
            </a:r>
          </a:p>
          <a:p>
            <a:pPr>
              <a:spcAft>
                <a:spcPts val="1100"/>
              </a:spcAft>
              <a:defRPr sz="1700">
                <a:solidFill>
                  <a:srgbClr val="171717"/>
                </a:solidFill>
                <a:latin typeface="Calibri"/>
              </a:defRPr>
            </a:pPr>
            <a:r>
              <a:t>•  Lead detail page: 8 insight sections — header, contacts, why-now banner, talking points, score breakdown, buying signals / pain points, draft email, research summary</a:t>
            </a:r>
          </a:p>
          <a:p>
            <a:pPr>
              <a:spcAft>
                <a:spcPts val="1100"/>
              </a:spcAft>
              <a:defRPr sz="1700">
                <a:solidFill>
                  <a:srgbClr val="171717"/>
                </a:solidFill>
                <a:latin typeface="Calibri"/>
              </a:defRPr>
            </a:pPr>
            <a:r>
              <a:t>•  Floating chat bubble (bottom-right) opens the agentic chat panel for natural-language queries</a:t>
            </a:r>
          </a:p>
          <a:p>
            <a:pPr>
              <a:spcAft>
                <a:spcPts val="1100"/>
              </a:spcAft>
              <a:defRPr sz="1700">
                <a:solidFill>
                  <a:srgbClr val="171717"/>
                </a:solidFill>
                <a:latin typeface="Calibri"/>
              </a:defRPr>
            </a:pPr>
            <a:r>
              <a:t>•  26 components, zero external UI libraries — pure Tailwind CSS v4 + Next.js 16 App Router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EFF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2004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100" b="0">
                <a:solidFill>
                  <a:srgbClr val="6B6B6B"/>
                </a:solidFill>
                <a:latin typeface="Calibri"/>
              </a:defRPr>
            </a:pPr>
            <a:r>
              <a:t>Roofing Lead Intelligence Platform — Aryaman Gupta | Instalily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22960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3600" b="1">
                <a:solidFill>
                  <a:srgbClr val="171717"/>
                </a:solidFill>
                <a:latin typeface="Calibri"/>
              </a:defRPr>
            </a:pPr>
            <a:r>
              <a:t>Lead Detail Page: 8 Insight Sections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737360"/>
            <a:ext cx="2468880" cy="1645920"/>
          </a:xfrm>
          <a:prstGeom prst="rect">
            <a:avLst/>
          </a:prstGeom>
          <a:solidFill>
            <a:srgbClr val="FFFFFF"/>
          </a:solidFill>
          <a:ln w="12700">
            <a:solidFill>
              <a:srgbClr val="1717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85800" y="1874520"/>
            <a:ext cx="2194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600" b="1">
                <a:solidFill>
                  <a:srgbClr val="171717"/>
                </a:solidFill>
                <a:latin typeface="Consolas"/>
              </a:defRPr>
            </a:pPr>
            <a:r>
              <a:t>LeadHeader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2240280"/>
            <a:ext cx="21945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404040"/>
                </a:solidFill>
                <a:latin typeface="Calibri"/>
              </a:defRPr>
            </a:pPr>
            <a:r>
              <a:t>Name, score pill, cert badge,</a:t>
            </a:r>
            <a:br/>
            <a:r>
              <a:t>meta (city, phone, website, yrs)</a:t>
            </a:r>
          </a:p>
        </p:txBody>
      </p:sp>
      <p:sp>
        <p:nvSpPr>
          <p:cNvPr id="7" name="Rectangle 6"/>
          <p:cNvSpPr/>
          <p:nvPr/>
        </p:nvSpPr>
        <p:spPr>
          <a:xfrm>
            <a:off x="3291840" y="1737360"/>
            <a:ext cx="2468880" cy="1645920"/>
          </a:xfrm>
          <a:prstGeom prst="rect">
            <a:avLst/>
          </a:prstGeom>
          <a:solidFill>
            <a:srgbClr val="FFFFFF"/>
          </a:solidFill>
          <a:ln w="12700">
            <a:solidFill>
              <a:srgbClr val="1717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3429000" y="1874520"/>
            <a:ext cx="2194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600" b="1">
                <a:solidFill>
                  <a:srgbClr val="171717"/>
                </a:solidFill>
                <a:latin typeface="Consolas"/>
              </a:defRPr>
            </a:pPr>
            <a:r>
              <a:t>ContactCard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429000" y="2240280"/>
            <a:ext cx="21945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404040"/>
                </a:solidFill>
                <a:latin typeface="Calibri"/>
              </a:defRPr>
            </a:pPr>
            <a:r>
              <a:t>Decision-maker cards with</a:t>
            </a:r>
            <a:br/>
            <a:r>
              <a:t>email / call / LinkedIn buttons</a:t>
            </a:r>
          </a:p>
        </p:txBody>
      </p:sp>
      <p:sp>
        <p:nvSpPr>
          <p:cNvPr id="10" name="Rectangle 9"/>
          <p:cNvSpPr/>
          <p:nvPr/>
        </p:nvSpPr>
        <p:spPr>
          <a:xfrm>
            <a:off x="6035040" y="1737360"/>
            <a:ext cx="2468880" cy="1645920"/>
          </a:xfrm>
          <a:prstGeom prst="rect">
            <a:avLst/>
          </a:prstGeom>
          <a:solidFill>
            <a:srgbClr val="FFFFFF"/>
          </a:solidFill>
          <a:ln w="12700">
            <a:solidFill>
              <a:srgbClr val="1717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172200" y="1874520"/>
            <a:ext cx="2194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600" b="1">
                <a:solidFill>
                  <a:srgbClr val="171717"/>
                </a:solidFill>
                <a:latin typeface="Consolas"/>
              </a:defRPr>
            </a:pPr>
            <a:r>
              <a:t>WhyNowBanner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72200" y="2240280"/>
            <a:ext cx="21945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404040"/>
                </a:solidFill>
                <a:latin typeface="Calibri"/>
              </a:defRPr>
            </a:pPr>
            <a:r>
              <a:t>Time-sensitive urgency signal</a:t>
            </a:r>
            <a:br/>
            <a:r>
              <a:t>(orange left-border accent)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778240" y="1737360"/>
            <a:ext cx="2468880" cy="1645920"/>
          </a:xfrm>
          <a:prstGeom prst="rect">
            <a:avLst/>
          </a:prstGeom>
          <a:solidFill>
            <a:srgbClr val="FFFFFF"/>
          </a:solidFill>
          <a:ln w="12700">
            <a:solidFill>
              <a:srgbClr val="1717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915400" y="1874520"/>
            <a:ext cx="2194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600" b="1">
                <a:solidFill>
                  <a:srgbClr val="171717"/>
                </a:solidFill>
                <a:latin typeface="Consolas"/>
              </a:defRPr>
            </a:pPr>
            <a:r>
              <a:t>TalkingPoints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915400" y="2240280"/>
            <a:ext cx="21945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404040"/>
                </a:solidFill>
                <a:latin typeface="Calibri"/>
              </a:defRPr>
            </a:pPr>
            <a:r>
              <a:t>Numbered list (01, 02, 03)</a:t>
            </a:r>
            <a:br/>
            <a:r>
              <a:t>monospace formatting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3611880"/>
            <a:ext cx="2468880" cy="1645920"/>
          </a:xfrm>
          <a:prstGeom prst="rect">
            <a:avLst/>
          </a:prstGeom>
          <a:solidFill>
            <a:srgbClr val="FFFFFF"/>
          </a:solidFill>
          <a:ln w="12700">
            <a:solidFill>
              <a:srgbClr val="1717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85800" y="3749040"/>
            <a:ext cx="2194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600" b="1">
                <a:solidFill>
                  <a:srgbClr val="171717"/>
                </a:solidFill>
                <a:latin typeface="Consolas"/>
              </a:defRPr>
            </a:pPr>
            <a:r>
              <a:t>ScoreBreakdown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4114800"/>
            <a:ext cx="21945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404040"/>
                </a:solidFill>
                <a:latin typeface="Calibri"/>
              </a:defRPr>
            </a:pPr>
            <a:r>
              <a:t>5 labeled progress bars</a:t>
            </a:r>
            <a:br/>
            <a:r>
              <a:t>showing each scoring factor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291840" y="3611880"/>
            <a:ext cx="2468880" cy="1645920"/>
          </a:xfrm>
          <a:prstGeom prst="rect">
            <a:avLst/>
          </a:prstGeom>
          <a:solidFill>
            <a:srgbClr val="FFFFFF"/>
          </a:solidFill>
          <a:ln w="12700">
            <a:solidFill>
              <a:srgbClr val="1717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3429000" y="3749040"/>
            <a:ext cx="2194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600" b="1">
                <a:solidFill>
                  <a:srgbClr val="171717"/>
                </a:solidFill>
                <a:latin typeface="Consolas"/>
              </a:defRPr>
            </a:pPr>
            <a:r>
              <a:t>InsightsGrid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429000" y="4114800"/>
            <a:ext cx="21945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404040"/>
                </a:solidFill>
                <a:latin typeface="Calibri"/>
              </a:defRPr>
            </a:pPr>
            <a:r>
              <a:t>Buying signals (green) +</a:t>
            </a:r>
            <a:br/>
            <a:r>
              <a:t>pain points (red) two-column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035040" y="3611880"/>
            <a:ext cx="2468880" cy="1645920"/>
          </a:xfrm>
          <a:prstGeom prst="rect">
            <a:avLst/>
          </a:prstGeom>
          <a:solidFill>
            <a:srgbClr val="FFFFFF"/>
          </a:solidFill>
          <a:ln w="12700">
            <a:solidFill>
              <a:srgbClr val="1717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172200" y="3749040"/>
            <a:ext cx="2194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600" b="1">
                <a:solidFill>
                  <a:srgbClr val="171717"/>
                </a:solidFill>
                <a:latin typeface="Consolas"/>
              </a:defRPr>
            </a:pPr>
            <a:r>
              <a:t>DraftEmail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172200" y="4114800"/>
            <a:ext cx="21945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404040"/>
                </a:solidFill>
                <a:latin typeface="Calibri"/>
              </a:defRPr>
            </a:pPr>
            <a:r>
              <a:t>Dark #171717 card with</a:t>
            </a:r>
            <a:br/>
            <a:r>
              <a:t>one-click copy button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778240" y="3611880"/>
            <a:ext cx="2468880" cy="1645920"/>
          </a:xfrm>
          <a:prstGeom prst="rect">
            <a:avLst/>
          </a:prstGeom>
          <a:solidFill>
            <a:srgbClr val="FFFFFF"/>
          </a:solidFill>
          <a:ln w="12700">
            <a:solidFill>
              <a:srgbClr val="1717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8915400" y="3749040"/>
            <a:ext cx="2194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600" b="1">
                <a:solidFill>
                  <a:srgbClr val="171717"/>
                </a:solidFill>
                <a:latin typeface="Consolas"/>
              </a:defRPr>
            </a:pPr>
            <a:r>
              <a:t>ResearchSummary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915400" y="4114800"/>
            <a:ext cx="21945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404040"/>
                </a:solidFill>
                <a:latin typeface="Calibri"/>
              </a:defRPr>
            </a:pPr>
            <a:r>
              <a:t>Collapsible text + citation</a:t>
            </a:r>
            <a:br/>
            <a:r>
              <a:t>source pills (clickable links)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31520" y="5669280"/>
            <a:ext cx="10698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6B6B6B"/>
                </a:solidFill>
                <a:latin typeface="Calibri"/>
              </a:defRPr>
            </a:pPr>
            <a:r>
              <a:t>Lead detail is a server component — single fetch, data passed as props. Only CopyButton and ResearchSummary are client components.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EFF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2004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100" b="0">
                <a:solidFill>
                  <a:srgbClr val="6B6B6B"/>
                </a:solidFill>
                <a:latin typeface="Calibri"/>
              </a:defRPr>
            </a:pPr>
            <a:r>
              <a:t>Roofing Lead Intelligence Platform — Aryaman Gupta | Instalily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22960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3600" b="1">
                <a:solidFill>
                  <a:srgbClr val="171717"/>
                </a:solidFill>
                <a:latin typeface="Calibri"/>
              </a:defRPr>
            </a:pPr>
            <a:r>
              <a:t>What Sales Reps Actually Get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55448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404040"/>
                </a:solidFill>
                <a:latin typeface="Calibri"/>
              </a:defRPr>
            </a:pPr>
            <a:r>
              <a:t>Example: Grapevine Pro — Score 67 (Hot), President’s Club, 449 reviews, Iselin NJ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103120"/>
            <a:ext cx="106984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1600">
                <a:solidFill>
                  <a:srgbClr val="171717"/>
                </a:solidFill>
                <a:latin typeface="Calibri"/>
              </a:defRPr>
            </a:pPr>
            <a:r>
              <a:t>•  Score Breakdown: Certification 30/30 | Reviews 18/20 | Rating 9/10 | Biz Signals 10/20 | Why Now 0/20</a:t>
            </a:r>
          </a:p>
          <a:p>
            <a:pPr>
              <a:spcAft>
                <a:spcPts val="900"/>
              </a:spcAft>
              <a:defRPr sz="1600">
                <a:solidFill>
                  <a:srgbClr val="171717"/>
                </a:solidFill>
                <a:latin typeface="Calibri"/>
              </a:defRPr>
            </a:pPr>
            <a:r>
              <a:t>•  Talking Point: "Mention their 449 Google reviews — they clearly value reputation"</a:t>
            </a:r>
          </a:p>
          <a:p>
            <a:pPr>
              <a:spcAft>
                <a:spcPts val="900"/>
              </a:spcAft>
              <a:defRPr sz="1600">
                <a:solidFill>
                  <a:srgbClr val="171717"/>
                </a:solidFill>
                <a:latin typeface="Calibri"/>
              </a:defRPr>
            </a:pPr>
            <a:r>
              <a:t>•  Talking Point: "Ask about their storm restoration pipeline and material lead times"</a:t>
            </a:r>
          </a:p>
          <a:p>
            <a:pPr>
              <a:spcAft>
                <a:spcPts val="900"/>
              </a:spcAft>
              <a:defRPr sz="1600">
                <a:solidFill>
                  <a:srgbClr val="171717"/>
                </a:solidFill>
                <a:latin typeface="Calibri"/>
              </a:defRPr>
            </a:pPr>
            <a:r>
              <a:t>•  Buying Signal: "High volume of storm damage repair work"</a:t>
            </a:r>
          </a:p>
          <a:p>
            <a:pPr>
              <a:spcAft>
                <a:spcPts val="900"/>
              </a:spcAft>
              <a:defRPr sz="1600">
                <a:solidFill>
                  <a:srgbClr val="171717"/>
                </a:solidFill>
                <a:latin typeface="Calibri"/>
              </a:defRPr>
            </a:pPr>
            <a:r>
              <a:t>•  Pain Point: "Current supplier has inconsistent delivery times (per Google reviews)"</a:t>
            </a:r>
          </a:p>
          <a:p>
            <a:pPr>
              <a:spcAft>
                <a:spcPts val="900"/>
              </a:spcAft>
              <a:defRPr sz="1600">
                <a:solidFill>
                  <a:srgbClr val="171717"/>
                </a:solidFill>
                <a:latin typeface="Calibri"/>
              </a:defRPr>
            </a:pPr>
            <a:r>
              <a:t>•  Why Now: "Major hailstorm hit their primary service area 3 weeks ago"</a:t>
            </a:r>
          </a:p>
          <a:p>
            <a:pPr>
              <a:spcAft>
                <a:spcPts val="900"/>
              </a:spcAft>
              <a:defRPr sz="1600">
                <a:solidFill>
                  <a:srgbClr val="171717"/>
                </a:solidFill>
                <a:latin typeface="Calibri"/>
              </a:defRPr>
            </a:pPr>
            <a:r>
              <a:t>•  Recommended Pitch: "Position as reliable, high-volume supplier for storm season..."</a:t>
            </a:r>
          </a:p>
          <a:p>
            <a:pPr>
              <a:spcAft>
                <a:spcPts val="900"/>
              </a:spcAft>
              <a:defRPr sz="1600">
                <a:solidFill>
                  <a:srgbClr val="171717"/>
                </a:solidFill>
                <a:latin typeface="Calibri"/>
              </a:defRPr>
            </a:pPr>
            <a:r>
              <a:t>•  Draft Email: Personalized outreach with subject line, ready to copy and send</a:t>
            </a:r>
          </a:p>
          <a:p>
            <a:pPr>
              <a:spcAft>
                <a:spcPts val="900"/>
              </a:spcAft>
              <a:defRPr sz="1600">
                <a:solidFill>
                  <a:srgbClr val="171717"/>
                </a:solidFill>
                <a:latin typeface="Calibri"/>
              </a:defRPr>
            </a:pPr>
            <a:r>
              <a:t>•  Key Contact: Frank N. — Owner — email, phone, LinkedIn (with confidence level)</a:t>
            </a:r>
          </a:p>
          <a:p>
            <a:pPr>
              <a:spcAft>
                <a:spcPts val="900"/>
              </a:spcAft>
              <a:defRPr sz="1600">
                <a:solidFill>
                  <a:srgbClr val="171717"/>
                </a:solidFill>
                <a:latin typeface="Calibri"/>
              </a:defRPr>
            </a:pPr>
            <a:r>
              <a:t>•  Chat: "Compare Grapevine Pro with Great American Roofing" → side-by-side analysis via agent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EFF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2004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100" b="0">
                <a:solidFill>
                  <a:srgbClr val="6B6B6B"/>
                </a:solidFill>
                <a:latin typeface="Calibri"/>
              </a:defRPr>
            </a:pPr>
            <a:r>
              <a:t>Roofing Lead Intelligence Platform — Aryaman Gupta | Instalily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22960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3600" b="1">
                <a:solidFill>
                  <a:srgbClr val="171717"/>
                </a:solidFill>
                <a:latin typeface="Calibri"/>
              </a:defRPr>
            </a:pPr>
            <a:r>
              <a:t>Testing: 119 Tests Across the Full Backend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7373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900" b="1">
                <a:solidFill>
                  <a:srgbClr val="171717"/>
                </a:solidFill>
                <a:latin typeface="Calibri"/>
              </a:defRPr>
            </a:pPr>
            <a:r>
              <a:t>Service Layer — 25 tests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14884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404040"/>
                </a:solidFill>
                <a:latin typeface="Calibri"/>
              </a:defRPr>
            </a:pPr>
            <a:r>
              <a:t>•  Pagination, all filter combinations, sort ordering, NULL score handling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2496312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404040"/>
                </a:solidFill>
                <a:latin typeface="Calibri"/>
              </a:defRPr>
            </a:pPr>
            <a:r>
              <a:t>•  Stats aggregation, score distribution bucketing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1089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900" b="1">
                <a:solidFill>
                  <a:srgbClr val="171717"/>
                </a:solidFill>
                <a:latin typeface="Calibri"/>
              </a:defRPr>
            </a:pPr>
            <a:r>
              <a:t>API Endpoints — 19 tests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352044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404040"/>
                </a:solidFill>
                <a:latin typeface="Calibri"/>
              </a:defRPr>
            </a:pPr>
            <a:r>
              <a:t>•  Full HTTP round-trip via FastAPI TestClient with in-memory SQLite (StaticPool)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3867912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404040"/>
                </a:solidFill>
                <a:latin typeface="Calibri"/>
              </a:defRPr>
            </a:pPr>
            <a:r>
              <a:t>•  Response shapes, pagination metadata, 404 handling, input validation (422)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44805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900" b="1">
                <a:solidFill>
                  <a:srgbClr val="171717"/>
                </a:solidFill>
                <a:latin typeface="Calibri"/>
              </a:defRPr>
            </a:pPr>
            <a:r>
              <a:t>Pipeline — 75 tests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489204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404040"/>
                </a:solidFill>
                <a:latin typeface="Calibri"/>
              </a:defRPr>
            </a:pPr>
            <a:r>
              <a:t>•  Scraper Coveo response parsing, research engine (async mocking), scoring deterministic functions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5239512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404040"/>
                </a:solidFill>
                <a:latin typeface="Calibri"/>
              </a:defRPr>
            </a:pPr>
            <a:r>
              <a:t>•  Enricher orchestration, ORM model methods, certification tiers, citation extraction, prompt templates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6760" y="566928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6B6B6B"/>
                </a:solidFill>
                <a:latin typeface="Consolas"/>
              </a:defRPr>
            </a:pPr>
            <a:r>
              <a:t>Run:  cd backend &amp;&amp; uv run pytest -v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EFF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2004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100" b="0">
                <a:solidFill>
                  <a:srgbClr val="6B6B6B"/>
                </a:solidFill>
                <a:latin typeface="Calibri"/>
              </a:defRPr>
            </a:pPr>
            <a:r>
              <a:t>Roofing Lead Intelligence Platform — Aryaman Gupta | Instalily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22960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3600" b="1">
                <a:solidFill>
                  <a:srgbClr val="171717"/>
                </a:solidFill>
                <a:latin typeface="Calibri"/>
              </a:defRPr>
            </a:pPr>
            <a:r>
              <a:t>Tech Stack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45920"/>
            <a:ext cx="1371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6B6B6B"/>
                </a:solidFill>
                <a:latin typeface="Consolas"/>
              </a:defRPr>
            </a:pPr>
            <a:r>
              <a:t>Layer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03120" y="1645920"/>
            <a:ext cx="3840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6B6B6B"/>
                </a:solidFill>
                <a:latin typeface="Consolas"/>
              </a:defRPr>
            </a:pPr>
            <a:r>
              <a:t>Technology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0" y="1645920"/>
            <a:ext cx="5303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6B6B6B"/>
                </a:solidFill>
                <a:latin typeface="Consolas"/>
              </a:defRPr>
            </a:pPr>
            <a:r>
              <a:t>Why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121408"/>
            <a:ext cx="1371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171717"/>
                </a:solidFill>
                <a:latin typeface="Calibri"/>
              </a:defRPr>
            </a:pPr>
            <a:r>
              <a:t>Frontend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103120" y="2121408"/>
            <a:ext cx="3840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171717"/>
                </a:solidFill>
                <a:latin typeface="Calibri"/>
              </a:defRPr>
            </a:pPr>
            <a:r>
              <a:t>Next.js 16 + React 19 + Tailwind 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0" y="2121408"/>
            <a:ext cx="5303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171717"/>
                </a:solidFill>
                <a:latin typeface="Calibri"/>
              </a:defRPr>
            </a:pPr>
            <a:r>
              <a:t>App Router, server components, brand styling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2596896"/>
            <a:ext cx="1371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171717"/>
                </a:solidFill>
                <a:latin typeface="Calibri"/>
              </a:defRPr>
            </a:pPr>
            <a:r>
              <a:t>Backend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03120" y="2596896"/>
            <a:ext cx="3840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171717"/>
                </a:solidFill>
                <a:latin typeface="Calibri"/>
              </a:defRPr>
            </a:pPr>
            <a:r>
              <a:t>FastAPI + Python 3.9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0" y="2596896"/>
            <a:ext cx="5303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171717"/>
                </a:solidFill>
                <a:latin typeface="Calibri"/>
              </a:defRPr>
            </a:pPr>
            <a:r>
              <a:t>Async-native, auto-generated OpenAPI docs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3072384"/>
            <a:ext cx="1371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171717"/>
                </a:solidFill>
                <a:latin typeface="Calibri"/>
              </a:defRPr>
            </a:pPr>
            <a:r>
              <a:t>Research LLM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103120" y="3072384"/>
            <a:ext cx="3840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171717"/>
                </a:solidFill>
                <a:latin typeface="Calibri"/>
              </a:defRPr>
            </a:pPr>
            <a:r>
              <a:t>Perplexity sonar-pro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0" y="3072384"/>
            <a:ext cx="5303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171717"/>
                </a:solidFill>
                <a:latin typeface="Calibri"/>
              </a:defRPr>
            </a:pPr>
            <a:r>
              <a:t>Web search with grounded citations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3547872"/>
            <a:ext cx="1371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171717"/>
                </a:solidFill>
                <a:latin typeface="Calibri"/>
              </a:defRPr>
            </a:pPr>
            <a:r>
              <a:t>Scoring LLM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103120" y="3547872"/>
            <a:ext cx="3840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171717"/>
                </a:solidFill>
                <a:latin typeface="Calibri"/>
              </a:defRPr>
            </a:pPr>
            <a:r>
              <a:t>OpenAI gpt-4o-mini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43600" y="3547872"/>
            <a:ext cx="5303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171717"/>
                </a:solidFill>
                <a:latin typeface="Calibri"/>
              </a:defRPr>
            </a:pPr>
            <a:r>
              <a:t>Structured JSON output, lowest cost, fastest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" y="4023360"/>
            <a:ext cx="1371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171717"/>
                </a:solidFill>
                <a:latin typeface="Calibri"/>
              </a:defRPr>
            </a:pPr>
            <a:r>
              <a:t>Chat Agent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103120" y="4023360"/>
            <a:ext cx="3840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171717"/>
                </a:solidFill>
                <a:latin typeface="Calibri"/>
              </a:defRPr>
            </a:pPr>
            <a:r>
              <a:t>OpenAI gpt-4o-mini (function calling)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0" y="4023360"/>
            <a:ext cx="5303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171717"/>
                </a:solidFill>
                <a:latin typeface="Calibri"/>
              </a:defRPr>
            </a:pPr>
            <a:r>
              <a:t>Agentic loop with 4 domain tools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1520" y="4498848"/>
            <a:ext cx="1371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171717"/>
                </a:solidFill>
                <a:latin typeface="Calibri"/>
              </a:defRPr>
            </a:pPr>
            <a:r>
              <a:t>Database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03120" y="4498848"/>
            <a:ext cx="3840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171717"/>
                </a:solidFill>
                <a:latin typeface="Calibri"/>
              </a:defRPr>
            </a:pPr>
            <a:r>
              <a:t>SQLite (SQLAlchemy ORM)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943600" y="4498848"/>
            <a:ext cx="5303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171717"/>
                </a:solidFill>
                <a:latin typeface="Calibri"/>
              </a:defRPr>
            </a:pPr>
            <a:r>
              <a:t>Zero-config dev, swap to Postgres with one line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1520" y="4974336"/>
            <a:ext cx="1371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171717"/>
                </a:solidFill>
                <a:latin typeface="Calibri"/>
              </a:defRPr>
            </a:pPr>
            <a:r>
              <a:t>Scraping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103120" y="4974336"/>
            <a:ext cx="3840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171717"/>
                </a:solidFill>
                <a:latin typeface="Calibri"/>
              </a:defRPr>
            </a:pPr>
            <a:r>
              <a:t>Playwright (Chromium)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943600" y="4974336"/>
            <a:ext cx="5303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171717"/>
                </a:solidFill>
                <a:latin typeface="Calibri"/>
              </a:defRPr>
            </a:pPr>
            <a:r>
              <a:t>Bypasses Akamai, Coveo API interception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31520" y="5449824"/>
            <a:ext cx="1371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171717"/>
                </a:solidFill>
                <a:latin typeface="Calibri"/>
              </a:defRPr>
            </a:pPr>
            <a:r>
              <a:t>CLI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103120" y="5449824"/>
            <a:ext cx="3840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171717"/>
                </a:solidFill>
                <a:latin typeface="Calibri"/>
              </a:defRPr>
            </a:pPr>
            <a:r>
              <a:t>argparse + async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943600" y="5449824"/>
            <a:ext cx="5303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171717"/>
                </a:solidFill>
                <a:latin typeface="Calibri"/>
              </a:defRPr>
            </a:pPr>
            <a:r>
              <a:t>Independent stages: --force, --limit, --concurrency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31520" y="5925312"/>
            <a:ext cx="1371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171717"/>
                </a:solidFill>
                <a:latin typeface="Calibri"/>
              </a:defRPr>
            </a:pPr>
            <a:r>
              <a:t>Testing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103120" y="5925312"/>
            <a:ext cx="3840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171717"/>
                </a:solidFill>
                <a:latin typeface="Calibri"/>
              </a:defRPr>
            </a:pPr>
            <a:r>
              <a:t>pytest (119 tests)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943600" y="5925312"/>
            <a:ext cx="5303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171717"/>
                </a:solidFill>
                <a:latin typeface="Calibri"/>
              </a:defRPr>
            </a:pPr>
            <a:r>
              <a:t>In-memory SQLite, async mocking, TestClient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EFF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2004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100" b="0">
                <a:solidFill>
                  <a:srgbClr val="6B6B6B"/>
                </a:solidFill>
                <a:latin typeface="Calibri"/>
              </a:defRPr>
            </a:pPr>
            <a:r>
              <a:t>Roofing Lead Intelligence Platform — Aryaman Gupta | Instalily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22960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3600" b="1">
                <a:solidFill>
                  <a:srgbClr val="171717"/>
                </a:solidFill>
                <a:latin typeface="Calibri"/>
              </a:defRPr>
            </a:pPr>
            <a:r>
              <a:t>Scalability: Built to Grow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73736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71717"/>
                </a:solidFill>
                <a:latin typeface="Calibri"/>
              </a:defRPr>
            </a:pPr>
            <a:r>
              <a:t>Database → Postgres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840480" y="1737360"/>
            <a:ext cx="7772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404040"/>
                </a:solidFill>
                <a:latin typeface="Calibri"/>
              </a:defRPr>
            </a:pPr>
            <a:r>
              <a:t>One connection string. Add Alembic migrations, JSONB with GIN indexes, pgBouncer pooling.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42316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71717"/>
                </a:solidFill>
                <a:latin typeface="Calibri"/>
              </a:defRPr>
            </a:pPr>
            <a:r>
              <a:t>Pipeline → Celery + Redis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840480" y="2423160"/>
            <a:ext cx="7772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404040"/>
                </a:solidFill>
                <a:latin typeface="Calibri"/>
              </a:defRPr>
            </a:pPr>
            <a:r>
              <a:t>Async task queue. Fan out scraping across ZIP codes in parallel workers.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10896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71717"/>
                </a:solidFill>
                <a:latin typeface="Calibri"/>
              </a:defRPr>
            </a:pPr>
            <a:r>
              <a:t>Search → Full-Text + Semantic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840480" y="3108960"/>
            <a:ext cx="7772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404040"/>
                </a:solidFill>
                <a:latin typeface="Calibri"/>
              </a:defRPr>
            </a:pPr>
            <a:r>
              <a:t>Postgres tsvector for name/address. pgvector for semantic search over research summaries.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379476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71717"/>
                </a:solidFill>
                <a:latin typeface="Calibri"/>
              </a:defRPr>
            </a:pPr>
            <a:r>
              <a:t>Auth → Multi-Tenant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40480" y="3794760"/>
            <a:ext cx="7772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404040"/>
                </a:solidFill>
                <a:latin typeface="Calibri"/>
              </a:defRPr>
            </a:pPr>
            <a:r>
              <a:t>JWT auth. Territory assignment — each rep sees their region. Row-level security.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448056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71717"/>
                </a:solidFill>
                <a:latin typeface="Calibri"/>
              </a:defRPr>
            </a:pPr>
            <a:r>
              <a:t>Chat → Streaming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40480" y="4480560"/>
            <a:ext cx="7772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404040"/>
                </a:solidFill>
                <a:latin typeface="Calibri"/>
              </a:defRPr>
            </a:pPr>
            <a:r>
              <a:t>SSE streaming for real-time token delivery. Multi-turn memory with conversation persistence.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516636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71717"/>
                </a:solidFill>
                <a:latin typeface="Calibri"/>
              </a:defRPr>
            </a:pPr>
            <a:r>
              <a:t>Observability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40480" y="5166360"/>
            <a:ext cx="7772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404040"/>
                </a:solidFill>
                <a:latin typeface="Calibri"/>
              </a:defRPr>
            </a:pPr>
            <a:r>
              <a:t>Structured logging, LLM token/latency tracking, pipeline health dashboard with alerting.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585216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71717"/>
                </a:solidFill>
                <a:latin typeface="Calibri"/>
              </a:defRPr>
            </a:pPr>
            <a:r>
              <a:t>Integrations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840480" y="5852160"/>
            <a:ext cx="7772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404040"/>
                </a:solidFill>
                <a:latin typeface="Calibri"/>
              </a:defRPr>
            </a:pPr>
            <a:r>
              <a:t>CRM export (Salesforce, HubSpot). Email send from platform. Sync rep notes back.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EFF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2004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100" b="0">
                <a:solidFill>
                  <a:srgbClr val="6B6B6B"/>
                </a:solidFill>
                <a:latin typeface="Calibri"/>
              </a:defRPr>
            </a:pPr>
            <a:r>
              <a:t>Roofing Lead Intelligence Platform — Aryaman Gupta | Instalily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22960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3600" b="1">
                <a:solidFill>
                  <a:srgbClr val="171717"/>
                </a:solidFill>
                <a:latin typeface="Calibri"/>
              </a:defRPr>
            </a:pPr>
            <a:r>
              <a:t>Key Design Decisions (Anticipated Q&amp;A)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45920"/>
            <a:ext cx="10698480" cy="35035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500">
                <a:solidFill>
                  <a:srgbClr val="171717"/>
                </a:solidFill>
                <a:latin typeface="Calibri"/>
              </a:defRPr>
            </a:pPr>
            <a:r>
              <a:rPr dirty="0"/>
              <a:t>Why </a:t>
            </a:r>
            <a:r>
              <a:rPr dirty="0" err="1"/>
              <a:t>Coveo</a:t>
            </a:r>
            <a:r>
              <a:rPr dirty="0"/>
              <a:t> API interception instead of DOM scraping?</a:t>
            </a:r>
            <a:br>
              <a:rPr dirty="0"/>
            </a:br>
            <a:r>
              <a:rPr dirty="0"/>
              <a:t>→  Structured JSON is more reliable, faster, and survives UI redesigns. DOM parsing is fragile.</a:t>
            </a:r>
          </a:p>
          <a:p>
            <a:pPr>
              <a:spcAft>
                <a:spcPts val="1000"/>
              </a:spcAft>
              <a:defRPr sz="1500">
                <a:solidFill>
                  <a:srgbClr val="171717"/>
                </a:solidFill>
                <a:latin typeface="Calibri"/>
              </a:defRPr>
            </a:pPr>
            <a:r>
              <a:rPr dirty="0"/>
              <a:t>Why Perplexity + </a:t>
            </a:r>
            <a:r>
              <a:rPr dirty="0" err="1"/>
              <a:t>OpenAI</a:t>
            </a:r>
            <a:r>
              <a:rPr dirty="0"/>
              <a:t> instead of one model?</a:t>
            </a:r>
            <a:br>
              <a:rPr dirty="0"/>
            </a:br>
            <a:r>
              <a:rPr dirty="0"/>
              <a:t>→  Perplexity excels at grounded web search with citations. </a:t>
            </a:r>
            <a:r>
              <a:rPr dirty="0" err="1"/>
              <a:t>OpenAI</a:t>
            </a:r>
            <a:r>
              <a:rPr dirty="0"/>
              <a:t> excels at structured JSON output. Best tool for each job.</a:t>
            </a:r>
          </a:p>
          <a:p>
            <a:pPr>
              <a:spcAft>
                <a:spcPts val="1000"/>
              </a:spcAft>
              <a:defRPr sz="1500">
                <a:solidFill>
                  <a:srgbClr val="171717"/>
                </a:solidFill>
                <a:latin typeface="Calibri"/>
              </a:defRPr>
            </a:pPr>
            <a:r>
              <a:rPr dirty="0"/>
              <a:t>Why hybrid scoring instead of fully LLM?</a:t>
            </a:r>
            <a:br>
              <a:rPr dirty="0"/>
            </a:br>
            <a:r>
              <a:rPr dirty="0"/>
              <a:t>→  Deterministic where objectively knowable (certs, reviews). LLM where reading comprehension is needed. Reproducible + intelligent.</a:t>
            </a:r>
          </a:p>
          <a:p>
            <a:pPr>
              <a:spcAft>
                <a:spcPts val="1000"/>
              </a:spcAft>
              <a:defRPr sz="1500">
                <a:solidFill>
                  <a:srgbClr val="171717"/>
                </a:solidFill>
                <a:latin typeface="Calibri"/>
              </a:defRPr>
            </a:pPr>
            <a:r>
              <a:rPr dirty="0"/>
              <a:t>Why an agentic chat loop instead of pre-canned queries?</a:t>
            </a:r>
            <a:br>
              <a:rPr dirty="0"/>
            </a:br>
            <a:r>
              <a:rPr dirty="0"/>
              <a:t>→  Reps ask unpredictable questions. The agent composes tools dynamically — compare, filter, drill-in — in ways we can’t anticipate.</a:t>
            </a:r>
          </a:p>
          <a:p>
            <a:pPr>
              <a:spcAft>
                <a:spcPts val="1000"/>
              </a:spcAft>
              <a:defRPr sz="1500">
                <a:solidFill>
                  <a:srgbClr val="171717"/>
                </a:solidFill>
                <a:latin typeface="Calibri"/>
              </a:defRPr>
            </a:pPr>
            <a:r>
              <a:rPr dirty="0"/>
              <a:t>Why SQLite for the demo?</a:t>
            </a:r>
            <a:br>
              <a:rPr dirty="0"/>
            </a:br>
            <a:r>
              <a:rPr dirty="0"/>
              <a:t>→  Zero-config. </a:t>
            </a:r>
            <a:r>
              <a:rPr dirty="0" err="1"/>
              <a:t>SQLAlchemy</a:t>
            </a:r>
            <a:r>
              <a:rPr dirty="0"/>
              <a:t> ORM makes the Postgres swap a </a:t>
            </a:r>
            <a:r>
              <a:rPr lang="en-US" dirty="0"/>
              <a:t>easy</a:t>
            </a:r>
            <a:r>
              <a:rPr dirty="0"/>
              <a:t> change. Schema is already production-ready.</a:t>
            </a:r>
          </a:p>
          <a:p>
            <a:pPr>
              <a:spcAft>
                <a:spcPts val="1000"/>
              </a:spcAft>
              <a:defRPr sz="1500">
                <a:solidFill>
                  <a:srgbClr val="171717"/>
                </a:solidFill>
                <a:latin typeface="Calibri"/>
              </a:defRPr>
            </a:pPr>
            <a:r>
              <a:rPr dirty="0"/>
              <a:t>Why sync API handlers when the pipeline is async?</a:t>
            </a:r>
            <a:br>
              <a:rPr dirty="0"/>
            </a:br>
            <a:r>
              <a:rPr dirty="0"/>
              <a:t>→  Enricher calls </a:t>
            </a:r>
            <a:r>
              <a:rPr dirty="0" err="1"/>
              <a:t>asyncio.run</a:t>
            </a:r>
            <a:r>
              <a:rPr dirty="0"/>
              <a:t>() internally. Async handlers would crash (nested event loops). </a:t>
            </a:r>
            <a:r>
              <a:rPr dirty="0" err="1"/>
              <a:t>FastAPI’s</a:t>
            </a:r>
            <a:r>
              <a:rPr dirty="0"/>
              <a:t> thread pool handles it.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EFF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2004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100" b="0">
                <a:solidFill>
                  <a:srgbClr val="6B6B6B"/>
                </a:solidFill>
                <a:latin typeface="Calibri"/>
              </a:defRPr>
            </a:pPr>
            <a:r>
              <a:t>Roofing Lead Intelligence Platform — Aryaman Gupta | Instalily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22960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3600" b="1">
                <a:solidFill>
                  <a:srgbClr val="171717"/>
                </a:solidFill>
                <a:latin typeface="Calibri"/>
              </a:defRPr>
            </a:pPr>
            <a:r>
              <a:t>By the Numbers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737360"/>
            <a:ext cx="2377440" cy="1463040"/>
          </a:xfrm>
          <a:prstGeom prst="rect">
            <a:avLst/>
          </a:prstGeom>
          <a:solidFill>
            <a:srgbClr val="FFFFFF"/>
          </a:solidFill>
          <a:ln w="12700">
            <a:solidFill>
              <a:srgbClr val="1717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85800" y="187452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3600" b="1">
                <a:solidFill>
                  <a:srgbClr val="171717"/>
                </a:solidFill>
                <a:latin typeface="Consolas"/>
              </a:defRPr>
            </a:pPr>
            <a:r>
              <a:rPr dirty="0"/>
              <a:t>7</a:t>
            </a:r>
            <a:r>
              <a:rPr lang="en-US" dirty="0"/>
              <a:t>6</a:t>
            </a:r>
            <a:endParaRPr dirty="0"/>
          </a:p>
        </p:txBody>
      </p:sp>
      <p:sp>
        <p:nvSpPr>
          <p:cNvPr id="6" name="TextBox 5"/>
          <p:cNvSpPr txBox="1"/>
          <p:nvPr/>
        </p:nvSpPr>
        <p:spPr>
          <a:xfrm>
            <a:off x="685800" y="2560320"/>
            <a:ext cx="2103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1400" b="0">
                <a:solidFill>
                  <a:srgbClr val="404040"/>
                </a:solidFill>
                <a:latin typeface="Calibri"/>
              </a:defRPr>
            </a:pPr>
            <a:r>
              <a:t>Contractors scraped</a:t>
            </a:r>
            <a:br/>
            <a:r>
              <a:t>and enriched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0" y="1737360"/>
            <a:ext cx="2377440" cy="1463040"/>
          </a:xfrm>
          <a:prstGeom prst="rect">
            <a:avLst/>
          </a:prstGeom>
          <a:solidFill>
            <a:srgbClr val="FFFFFF"/>
          </a:solidFill>
          <a:ln w="12700">
            <a:solidFill>
              <a:srgbClr val="1717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3337560" y="187452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3600" b="1">
                <a:solidFill>
                  <a:srgbClr val="171717"/>
                </a:solidFill>
                <a:latin typeface="Consolas"/>
              </a:defRPr>
            </a:pPr>
            <a:r>
              <a:t>119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337560" y="2560320"/>
            <a:ext cx="2103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1400" b="0">
                <a:solidFill>
                  <a:srgbClr val="404040"/>
                </a:solidFill>
                <a:latin typeface="Calibri"/>
              </a:defRPr>
            </a:pPr>
            <a:r>
              <a:t>Backend tests</a:t>
            </a:r>
            <a:br/>
            <a:r>
              <a:t>passing</a:t>
            </a:r>
          </a:p>
        </p:txBody>
      </p:sp>
      <p:sp>
        <p:nvSpPr>
          <p:cNvPr id="10" name="Rectangle 9"/>
          <p:cNvSpPr/>
          <p:nvPr/>
        </p:nvSpPr>
        <p:spPr>
          <a:xfrm>
            <a:off x="5852160" y="1737360"/>
            <a:ext cx="2377440" cy="1463040"/>
          </a:xfrm>
          <a:prstGeom prst="rect">
            <a:avLst/>
          </a:prstGeom>
          <a:solidFill>
            <a:srgbClr val="FFFFFF"/>
          </a:solidFill>
          <a:ln w="12700">
            <a:solidFill>
              <a:srgbClr val="1717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989320" y="187452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3600" b="1">
                <a:solidFill>
                  <a:srgbClr val="171717"/>
                </a:solidFill>
                <a:latin typeface="Consolas"/>
              </a:defRPr>
            </a:pPr>
            <a:r>
              <a:t>26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89320" y="2560320"/>
            <a:ext cx="2103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1400" b="0">
                <a:solidFill>
                  <a:srgbClr val="404040"/>
                </a:solidFill>
                <a:latin typeface="Calibri"/>
              </a:defRPr>
            </a:pPr>
            <a:r>
              <a:t>Frontend</a:t>
            </a:r>
            <a:br/>
            <a:r>
              <a:t>components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503920" y="1737360"/>
            <a:ext cx="2377440" cy="1463040"/>
          </a:xfrm>
          <a:prstGeom prst="rect">
            <a:avLst/>
          </a:prstGeom>
          <a:solidFill>
            <a:srgbClr val="FFFFFF"/>
          </a:solidFill>
          <a:ln w="12700">
            <a:solidFill>
              <a:srgbClr val="1717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641080" y="187452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3600" b="1">
                <a:solidFill>
                  <a:srgbClr val="171717"/>
                </a:solidFill>
                <a:latin typeface="Consolas"/>
              </a:defRPr>
            </a:pPr>
            <a:r>
              <a:t>~$0.05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41080" y="2560320"/>
            <a:ext cx="210312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1400" b="0">
                <a:solidFill>
                  <a:srgbClr val="404040"/>
                </a:solidFill>
                <a:latin typeface="Calibri"/>
              </a:defRPr>
            </a:pPr>
            <a:r>
              <a:rPr dirty="0"/>
              <a:t>Total cost to score</a:t>
            </a:r>
            <a:br>
              <a:rPr dirty="0"/>
            </a:br>
            <a:r>
              <a:rPr dirty="0"/>
              <a:t>all 7</a:t>
            </a:r>
            <a:r>
              <a:rPr lang="en-US" dirty="0"/>
              <a:t>6</a:t>
            </a:r>
            <a:r>
              <a:rPr dirty="0"/>
              <a:t> leads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3474720"/>
            <a:ext cx="2377440" cy="1463040"/>
          </a:xfrm>
          <a:prstGeom prst="rect">
            <a:avLst/>
          </a:prstGeom>
          <a:solidFill>
            <a:srgbClr val="FFFFFF"/>
          </a:solidFill>
          <a:ln w="12700">
            <a:solidFill>
              <a:srgbClr val="1717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85800" y="361188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3600" b="1">
                <a:solidFill>
                  <a:srgbClr val="171717"/>
                </a:solidFill>
                <a:latin typeface="Consolas"/>
              </a:defRPr>
            </a:pPr>
            <a: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4297680"/>
            <a:ext cx="2103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1400" b="0">
                <a:solidFill>
                  <a:srgbClr val="404040"/>
                </a:solidFill>
                <a:latin typeface="Calibri"/>
              </a:defRPr>
            </a:pPr>
            <a:r>
              <a:t>AI enrichment</a:t>
            </a:r>
            <a:br/>
            <a:r>
              <a:t>stages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200400" y="3474720"/>
            <a:ext cx="2377440" cy="1463040"/>
          </a:xfrm>
          <a:prstGeom prst="rect">
            <a:avLst/>
          </a:prstGeom>
          <a:solidFill>
            <a:srgbClr val="FFFFFF"/>
          </a:solidFill>
          <a:ln w="12700">
            <a:solidFill>
              <a:srgbClr val="1717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3337560" y="361188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3600" b="1">
                <a:solidFill>
                  <a:srgbClr val="171717"/>
                </a:solidFill>
                <a:latin typeface="Consolas"/>
              </a:defRPr>
            </a:pPr>
            <a:r>
              <a:t>7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337560" y="4297680"/>
            <a:ext cx="2103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1400" b="0">
                <a:solidFill>
                  <a:srgbClr val="404040"/>
                </a:solidFill>
                <a:latin typeface="Calibri"/>
              </a:defRPr>
            </a:pPr>
            <a:r>
              <a:t>REST API</a:t>
            </a:r>
            <a:br/>
            <a:r>
              <a:t>endpoints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852160" y="3474720"/>
            <a:ext cx="2377440" cy="1463040"/>
          </a:xfrm>
          <a:prstGeom prst="rect">
            <a:avLst/>
          </a:prstGeom>
          <a:solidFill>
            <a:srgbClr val="FFFFFF"/>
          </a:solidFill>
          <a:ln w="12700">
            <a:solidFill>
              <a:srgbClr val="1717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5989320" y="361188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3600" b="1">
                <a:solidFill>
                  <a:srgbClr val="171717"/>
                </a:solidFill>
                <a:latin typeface="Consolas"/>
              </a:defRPr>
            </a:pPr>
            <a: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989320" y="4297680"/>
            <a:ext cx="2103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1400" b="0">
                <a:solidFill>
                  <a:srgbClr val="404040"/>
                </a:solidFill>
                <a:latin typeface="Calibri"/>
              </a:defRPr>
            </a:pPr>
            <a:r>
              <a:t>Agentic chat</a:t>
            </a:r>
            <a:br/>
            <a:r>
              <a:t>tools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503920" y="3474720"/>
            <a:ext cx="2377440" cy="1463040"/>
          </a:xfrm>
          <a:prstGeom prst="rect">
            <a:avLst/>
          </a:prstGeom>
          <a:solidFill>
            <a:srgbClr val="FFFFFF"/>
          </a:solidFill>
          <a:ln w="12700">
            <a:solidFill>
              <a:srgbClr val="1717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8641080" y="361188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3600" b="1">
                <a:solidFill>
                  <a:srgbClr val="171717"/>
                </a:solidFill>
                <a:latin typeface="Consolas"/>
              </a:defRPr>
            </a:pPr>
            <a: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641080" y="4297680"/>
            <a:ext cx="2103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1400" b="0">
                <a:solidFill>
                  <a:srgbClr val="404040"/>
                </a:solidFill>
                <a:latin typeface="Calibri"/>
              </a:defRPr>
            </a:pPr>
            <a:r>
              <a:t>Score breakdown</a:t>
            </a:r>
            <a:br/>
            <a:r>
              <a:t>factors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717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1371600"/>
            <a:ext cx="10698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4000" b="1">
                <a:solidFill>
                  <a:srgbClr val="FFFFFF"/>
                </a:solidFill>
                <a:latin typeface="Calibri"/>
              </a:defRPr>
            </a:pPr>
            <a:r>
              <a:t>Roofing Lead Intelligence Platform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743200"/>
            <a:ext cx="1069848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800">
                <a:solidFill>
                  <a:srgbClr val="A0A0A0"/>
                </a:solidFill>
                <a:latin typeface="Calibri"/>
              </a:defRPr>
            </a:pPr>
            <a:r>
              <a:t>•  End-to-End Pipeline — Scrape, research, score, extract contacts, store, serve, display</a:t>
            </a:r>
          </a:p>
          <a:p>
            <a:pPr>
              <a:spcAft>
                <a:spcPts val="1400"/>
              </a:spcAft>
              <a:defRPr sz="1800">
                <a:solidFill>
                  <a:srgbClr val="A0A0A0"/>
                </a:solidFill>
                <a:latin typeface="Calibri"/>
              </a:defRPr>
            </a:pPr>
            <a:r>
              <a:t>•  Hybrid AI Scoring — Deterministic + LLM for reproducibility, explainability, and intelligence</a:t>
            </a:r>
          </a:p>
          <a:p>
            <a:pPr>
              <a:spcAft>
                <a:spcPts val="1400"/>
              </a:spcAft>
              <a:defRPr sz="1800">
                <a:solidFill>
                  <a:srgbClr val="A0A0A0"/>
                </a:solidFill>
                <a:latin typeface="Calibri"/>
              </a:defRPr>
            </a:pPr>
            <a:r>
              <a:t>•  Agentic Chat — Natural language interface with 4 tools and multi-step reasoning over the leads DB</a:t>
            </a:r>
          </a:p>
          <a:p>
            <a:pPr>
              <a:spcAft>
                <a:spcPts val="1400"/>
              </a:spcAft>
              <a:defRPr sz="1800">
                <a:solidFill>
                  <a:srgbClr val="A0A0A0"/>
                </a:solidFill>
                <a:latin typeface="Calibri"/>
              </a:defRPr>
            </a:pPr>
            <a:r>
              <a:t>•  Actionable Intelligence — Talking points, buying signals, pain points, draft emails, decision-maker contacts</a:t>
            </a:r>
          </a:p>
          <a:p>
            <a:pPr>
              <a:spcAft>
                <a:spcPts val="1400"/>
              </a:spcAft>
              <a:defRPr sz="1800">
                <a:solidFill>
                  <a:srgbClr val="A0A0A0"/>
                </a:solidFill>
                <a:latin typeface="Calibri"/>
              </a:defRPr>
            </a:pPr>
            <a:r>
              <a:t>•  Production-Ready — 119 tests, clean separation, scales to Postgres/Celery/multi-tenant with minimal changes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760720"/>
            <a:ext cx="10698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6B6B6B"/>
                </a:solidFill>
                <a:latin typeface="Calibri"/>
              </a:defRPr>
            </a:pPr>
            <a:r>
              <a:t>Built by Aryaman Gupta for Instalily AI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</TotalTime>
  <Words>2904</Words>
  <Application>Microsoft Macintosh PowerPoint</Application>
  <PresentationFormat>Widescreen</PresentationFormat>
  <Paragraphs>298</Paragraphs>
  <Slides>19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3" baseType="lpstr">
      <vt:lpstr>Arial</vt:lpstr>
      <vt:lpstr>Calibri</vt:lpstr>
      <vt:lpstr>Consolas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subject/>
  <dc:creator/>
  <cp:keywords/>
  <dc:description>generated using python-pptx</dc:description>
  <cp:lastModifiedBy>Gupta, Aryaman</cp:lastModifiedBy>
  <cp:revision>4</cp:revision>
  <dcterms:created xsi:type="dcterms:W3CDTF">2013-01-27T09:14:16Z</dcterms:created>
  <dcterms:modified xsi:type="dcterms:W3CDTF">2026-04-10T20:52:27Z</dcterms:modified>
  <cp:category/>
</cp:coreProperties>
</file>