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Roofing Lead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A0A0A0"/>
                </a:solidFill>
                <a:latin typeface="Calibri"/>
              </a:defRPr>
            </a:pPr>
            <a:r>
              <a:t>AI-powered sales intelligence for roofing distributors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Aryaman Gupta  ·  Onsite Project  ·  Instalily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Roofing distributors have no systematic way to identify and prioritize contractor leads</a:t>
            </a:r>
          </a:p>
          <a:p>
            <a:pPr>
              <a:spcAft>
                <a:spcPts val="14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Sales reps spend hours manually researching contractors — Googling names, checking reviews, guessing who to call first</a:t>
            </a:r>
          </a:p>
          <a:p>
            <a:pPr>
              <a:spcAft>
                <a:spcPts val="14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GAF’s public directory has rich contractor data, but it’s locked inside a JS-rendered, bot-protected website</a:t>
            </a:r>
          </a:p>
          <a:p>
            <a:pPr>
              <a:spcAft>
                <a:spcPts val="14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No existing tool combines scraping + AI enrichment + actionable sales intelligence in one workflow</a:t>
            </a:r>
          </a:p>
          <a:p>
            <a:pPr>
              <a:spcAft>
                <a:spcPts val="14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Without lead scoring, reps waste time on low-potential contractors while high-value leads go untouched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404040"/>
                </a:solidFill>
                <a:latin typeface="Calibri"/>
              </a:defRPr>
            </a:pPr>
            <a:r>
              <a:t>An end-to-end platform that scrapes, enriches, scores, and presents contractor leads — turning raw directory data into actionable sales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1717"/>
                </a:solidFill>
                <a:latin typeface="Calibri"/>
              </a:defRPr>
            </a:pPr>
            <a:r>
              <a:t>Scrape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83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Playwright + Coveo API</a:t>
            </a:r>
            <a:br/>
            <a:r>
              <a:t>interception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6B"/>
                </a:solidFill>
                <a:latin typeface="Consolas"/>
              </a:defRPr>
            </a:pPr>
            <a:r>
              <a:t>78 contractors from</a:t>
            </a:r>
            <a:br/>
            <a:r>
              <a:t>GAF directory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56032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1717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Perplexity sonar-pro</a:t>
            </a:r>
            <a:br/>
            <a:r>
              <a:t>web research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297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6B"/>
                </a:solidFill>
                <a:latin typeface="Consolas"/>
              </a:defRPr>
            </a:pPr>
            <a:r>
              <a:t>Grounded insights with</a:t>
            </a:r>
            <a:br/>
            <a:r>
              <a:t>citations per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1717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Hybrid deterministic +</a:t>
            </a:r>
            <a:br/>
            <a:r>
              <a:t>LLM scoring (0–100)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97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6B"/>
                </a:solidFill>
                <a:latin typeface="Consolas"/>
              </a:defRPr>
            </a:pPr>
            <a:r>
              <a:t>Explainable 5-factor</a:t>
            </a:r>
            <a:br/>
            <a:r>
              <a:t>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56032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1717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383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Next.js dashboard +</a:t>
            </a:r>
            <a:br/>
            <a:r>
              <a:t>FastAPI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976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6B"/>
                </a:solidFill>
                <a:latin typeface="Consolas"/>
              </a:defRPr>
            </a:pPr>
            <a:r>
              <a:t>Filter, sort, drill into</a:t>
            </a:r>
            <a:br/>
            <a:r>
              <a:t>every lead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Architecture: Pipeline + API +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325880" cy="10058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GAF</a:t>
            </a:r>
            <a:br/>
            <a:r>
              <a:t>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103120"/>
            <a:ext cx="1325880" cy="10058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Playwright</a:t>
            </a:r>
            <a:br/>
            <a:r>
              <a:t>Scraper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103120"/>
            <a:ext cx="13258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Perplexity</a:t>
            </a:r>
            <a:br/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103120"/>
            <a:ext cx="1325880" cy="1005840"/>
          </a:xfrm>
          <a:prstGeom prst="rect">
            <a:avLst/>
          </a:prstGeom>
          <a:solidFill>
            <a:srgbClr val="EA8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  <a:br/>
            <a:r>
              <a:t>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103120"/>
            <a:ext cx="1325880" cy="1005840"/>
          </a:xfrm>
          <a:prstGeom prst="rect">
            <a:avLst/>
          </a:prstGeom>
          <a:solidFill>
            <a:srgbClr val="168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  <a:br/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103120"/>
            <a:ext cx="1325880" cy="10058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2103120"/>
            <a:ext cx="1325880" cy="100584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  <a:br/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Pipeline runs offline — scrape, research, score, extract contacts, store. Dashboard never waits on LLM calls.</a:t>
            </a:r>
          </a:p>
          <a:p>
            <a:pPr>
              <a:spcAft>
                <a:spcPts val="10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Each stage is independently runnable: re-score without re-researching, re-research without re-scraping.</a:t>
            </a:r>
          </a:p>
          <a:p>
            <a:pPr>
              <a:spcAft>
                <a:spcPts val="10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Three DB tables: contractors (raw data), lead_insights (AI enrichments), contacts (decision-makers).</a:t>
            </a:r>
          </a:p>
          <a:p>
            <a:pPr>
              <a:spcAft>
                <a:spcPts val="10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Clean separation: CLI for pipeline ops, REST API for reads, Next.js for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Stage 0: Scraping — Playwright + Coveo API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GAF’s site is JS-rendered and protected by Akamai bot detection — can’t use simple HTTP requests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Playwright launches headless Chromium with stealth settings (spoofed webdriver, plugins, permissions)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Instead of parsing DOM elements, we intercept the Coveo search API calls for clean structured JSON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Extract Bearer token from the first request, then paginate directly against Coveo’s REST API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Profile page scraping runs with configurable concurrency for website URLs, years in business, about text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Parameterized: zip_code and distance are inputs, not hardcoded — works for any territory</a:t>
            </a:r>
          </a:p>
          <a:p>
            <a:pPr>
              <a:spcAft>
                <a:spcPts val="10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Result: 78 contractors with name, address, phone, certification, rating, reviews, services, lat/lng, distance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Three-Stage AI Enrichment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404040"/>
                </a:solidFill>
                <a:latin typeface="Calibri"/>
              </a:defRPr>
            </a:pPr>
            <a:r>
              <a:t>Multiple LLMs, each doing what they’re best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73152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alibri"/>
              </a:defRPr>
            </a:pPr>
            <a:r>
              <a:t>Stage 1: Perplexity — Web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Sends structured research queries to Perplexity sonar-pro for each contractor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70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Returns: company overview, decision-makers, Google review sentiment, recent projects, storm activity, growth signals, BBB rating, supplier intel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7238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Grounded citations (URLs) stored alongside research text — reps can 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73152" cy="1371600"/>
          </a:xfrm>
          <a:prstGeom prst="rect">
            <a:avLst/>
          </a:prstGeom>
          <a:solidFill>
            <a:srgbClr val="EA8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alibri"/>
              </a:defRPr>
            </a:pPr>
            <a:r>
              <a:t>Stage 2: OpenAI — Hybrid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Deterministic scoring (60/100 pts): certification tier, review volume (log-scaled), rating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93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LLM scoring (40/100 pts): business signals + why-now urgency extracted from research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8114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Also generates: talking points, buying signals, pain points, recommended pitch, draft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20640"/>
            <a:ext cx="73152" cy="1371600"/>
          </a:xfrm>
          <a:prstGeom prst="rect">
            <a:avLst/>
          </a:prstGeom>
          <a:solidFill>
            <a:srgbClr val="168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alibri"/>
              </a:defRPr>
            </a:pPr>
            <a:r>
              <a:t>Stage 3: OpenAI — Contact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Extracts decision-maker contacts from research text: names, titles, emails, LinkedIn URLs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881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Provider-based architecture: PerplexityExtractor (implemented), Hunter.io (ready to plug 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08990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•  Deduplicated by name + contractor_id — re-running enriches, doesn’t duplicate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Hybrid Scoring: Why Not Fully LLM or Fully Deterministic?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Deterministic (60 pts — 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certification_tier (0–30): President’s Club=30, Master Elite=25, Certified=15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review_volume (0–20): log-scaled from review count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rating_quality (0–10): star rating weighted by review confidence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Same input = same score. Costs $0. Auditable.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EA880E"/>
                </a:solidFill>
                <a:latin typeface="Calibri"/>
              </a:defRPr>
            </a:pPr>
            <a:r>
              <a:t>LLM-Scored (40 pts — gpt-4o-mini)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business_signals (0–20): growth, hiring, expansion from research text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why_now_urgency (0–20): storms, seasonal demand, supplier issues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Only an LLM can extract these from 3000 chars of unstructured research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~$0.001 per contractor. All 78 leads scored for ~$0.05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alibri"/>
              </a:defRPr>
            </a:pPr>
            <a:r>
              <a:t>Key 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Graceful degradation: if OpenAI is down, deterministic subtotal (60/100) still provides usable ranking</a:t>
            </a:r>
          </a:p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Pre-computed deterministic scores passed to LLM as “locked — do not modify” context</a:t>
            </a:r>
          </a:p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LLM scores clamped to valid ranges; arithmetic enforced in Python (don’t trust the LLM’s addition)</a:t>
            </a:r>
          </a:p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response_format={"type": "json_object"} for guaranteed parseable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Data Management: Three-Table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onsolas"/>
              </a:defRPr>
            </a:pPr>
            <a:r>
              <a:t>contractors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onsolas"/>
              </a:defRPr>
            </a:pPr>
            <a:r>
              <a:t>23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Raw scraped data from GAF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gaf_id as dedupe key (upserts)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9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Name, address, phone,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57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Certification, rating,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Lat/lng, distance,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Years in business, about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onsolas"/>
              </a:defRPr>
            </a:pPr>
            <a:r>
              <a:t>lead_insights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onsolas"/>
              </a:defRPr>
            </a:pPr>
            <a:r>
              <a:t>15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AI-generated enrichments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1:1 with contractor (UNIQUE 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9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lead_score (0–100)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57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score_breakdown (5-factor JSON)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04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Talking points, buying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Why now, draft email, pitch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73736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1717"/>
                </a:solidFill>
                <a:latin typeface="Consolas"/>
              </a:defRPr>
            </a:pPr>
            <a:r>
              <a:t>contacts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94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onsolas"/>
              </a:defRPr>
            </a:pPr>
            <a:r>
              <a:t>10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Decision-maker contacts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Many-to-one with contractor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9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Name, title, email, phone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57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LinkedIn 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04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Source + confidence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 Deduped by name + contractor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SQLAlchemy ORM — swap SQLite for Postgres by changing one connection string</a:t>
            </a:r>
          </a:p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JSON fields stored as TEXT (SQLite-compatible), become native JSONB with GIN indexes in Postgres</a:t>
            </a:r>
          </a:p>
          <a:p>
            <a:pPr>
              <a:spcAft>
                <a:spcPts val="8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•  Three tables enable independent re-processing: re-score without re-researching, re-research without re-scraping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REST API: 6 Endpoints, 11 Schemas, 3-Tier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835E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37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Paginated list with filters (score, cert, search), sorting, URL-synced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835E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/api/leads/{id}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Full detail: contractor + insights + contacts (eager-loaded)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835E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Dashboard metrics: totals, averages, cert breakdown, score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880E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/api/pipeline/scrape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Trigger scraping for any zip_code +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880E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/api/pipeline/enrich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749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Run all 3 enrichment stages sequentially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835E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71717"/>
                </a:solidFill>
                <a:latin typeface="Consolas"/>
              </a:defRPr>
            </a:pPr>
            <a:r>
              <a:t>/api/pipeline/status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Pipeline health: how many awaiting research/scoring/contacts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Calibri"/>
              </a:defRPr>
            </a:pPr>
            <a:r>
              <a:t>•  Schemas (schemas.py): 11 Pydantic models enforce type safety. Separate list vs. detail schemas avoid serializing multi-KB fields for table rows.</a:t>
            </a:r>
          </a:p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Calibri"/>
              </a:defRPr>
            </a:pPr>
            <a:r>
              <a:t>•  Service layer (lead_service.py): Isolates SQLAlchemy query logic. NULL-safe ordering, CASE WHEN bucketing for stats.</a:t>
            </a:r>
          </a:p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Calibri"/>
              </a:defRPr>
            </a:pPr>
            <a:r>
              <a:t>•  Routers (leads.py, pipeline.py): Thin handlers. Column whitelist prevents SQL injection. per_page capped at 100.</a:t>
            </a:r>
          </a:p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Calibri"/>
              </a:defRPr>
            </a:pPr>
            <a:r>
              <a:t>•  All handlers are sync def — enricher uses asyncio.run() internally; FastAPI runs sync handlers in a thread pool.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Dashboard UI: Instalily-Branded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Instalily design language: IBM Plex Sans/Mono, off-white #FEFFF7, sharp black borders, monospace uppercase eyebrows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Floating dark gradient pill navigation with backdrop blur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StatsBar: 4 metric cells (Total Leads, Top Leads, Avg Score, Enriched) in sharp-bordered grid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FilterBar: Inline score tier pills (Hot 60+ / Warm / Cold) + certification filter pills + debounced search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LeadTable: Sortable columns (score, name, volume, distance), paginated, ScorePill + CertBadge inline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All filter/sort/page state synced to URL query params — every view is bookmarkable and shareable</a:t>
            </a:r>
          </a:p>
          <a:p>
            <a:pPr>
              <a:spcAft>
                <a:spcPts val="1200"/>
              </a:spcAft>
              <a:defRPr sz="1700">
                <a:solidFill>
                  <a:srgbClr val="171717"/>
                </a:solidFill>
                <a:latin typeface="Calibri"/>
              </a:defRPr>
            </a:pPr>
            <a:r>
              <a:t>•  25 components total, zero external UI libraries — pure Tailwind CSS v4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Lead Detail Page: 8 Insight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LeadHeader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Name, score pill, cert badge,</a:t>
            </a:r>
            <a:br/>
            <a:r>
              <a:t>meta (location, phone, website, yrs)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73736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ContactCard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Decision-maker cards with</a:t>
            </a:r>
            <a:br/>
            <a:r>
              <a:t>email / call / LinkedIn buttons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WhyNowBanner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Time-sensitive urgency signal</a:t>
            </a:r>
            <a:br/>
            <a:r>
              <a:t>(orange left-border accent)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TalkingPoints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240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Numbered list (01, 02, 03)</a:t>
            </a:r>
            <a:br/>
            <a:r>
              <a:t>monospace formatting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ScoreBreakdown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5 labeled progress bars</a:t>
            </a:r>
            <a:br/>
            <a:r>
              <a:t>showing each scoring factor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611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InsightsGrid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Buying signals (green) +</a:t>
            </a:r>
            <a:br/>
            <a:r>
              <a:t>pain points (red) two-column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11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DraftEmail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Dark #171717 card with</a:t>
            </a:r>
            <a:br/>
            <a:r>
              <a:t>one-click copy button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3611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1717"/>
                </a:solidFill>
                <a:latin typeface="Consolas"/>
              </a:defRPr>
            </a:pPr>
            <a:r>
              <a:t>ResearchSummary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04040"/>
                </a:solidFill>
                <a:latin typeface="Calibri"/>
              </a:defRPr>
            </a:pPr>
            <a:r>
              <a:t>Collapsible text + citation</a:t>
            </a:r>
            <a:br/>
            <a:r>
              <a:t>source pills (clickable)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Lead detail is a server component — single fetch, data passed as props. Only CopyButton and ResearchSummary are client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What Sales Reps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04040"/>
                </a:solidFill>
                <a:latin typeface="Calibri"/>
              </a:defRPr>
            </a:pPr>
            <a:r>
              <a:t>Example: Grapevine Pro — Score 67 (Hot), President’s Club, 449 reviews, Iselin NJ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Score Breakdown: Certification 30/30 | Reviews 18/20 | Rating 9/10 | Biz Signals 10/20 | Why Now 0/20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Talking Point: "Mention their 449 Google reviews — they clearly value reputation"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Talking Point: "Ask about their storm restoration pipeline and material lead times"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Buying Signal: "High volume of storm damage repair work"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Buying Signal: "Recently expanded service area"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Pain Point: "Current supplier has inconsistent delivery times (per Google reviews)"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Why Now: "Major hailstorm hit their primary service area 3 weeks ago"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Recommended Pitch: "Position as reliable, high-volume supplier for storm season..."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Draft Email: Personalized outreach ready to copy and send</a:t>
            </a:r>
          </a:p>
          <a:p>
            <a:pPr>
              <a:spcAft>
                <a:spcPts val="900"/>
              </a:spcAft>
              <a:defRPr sz="1600">
                <a:solidFill>
                  <a:srgbClr val="171717"/>
                </a:solidFill>
                <a:latin typeface="Calibri"/>
              </a:defRPr>
            </a:pPr>
            <a:r>
              <a:t>•  Key Contact: Frank N. — Owner — email, phone, LinkedIn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Testing: 119 Tests Across the Full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1717"/>
                </a:solidFill>
                <a:latin typeface="Calibri"/>
              </a:defRPr>
            </a:pPr>
            <a:r>
              <a:t>Service Layer (25 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Pagination, all filter combinations, sort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NULL score handling, stats aggregation, score distribution bucketing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1717"/>
                </a:solidFill>
                <a:latin typeface="Calibri"/>
              </a:defRPr>
            </a:pPr>
            <a:r>
              <a:t>API Endpoints (19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Full HTTP round-trip via FastAPI TestClient with in-memory SQLite (StaticPool)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Response shapes, pagination metadata, 404 handling, input validation (422)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1717"/>
                </a:solidFill>
                <a:latin typeface="Calibri"/>
              </a:defRPr>
            </a:pPr>
            <a:r>
              <a:t>Pipeline (75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Scraper parsing, research engine (async mocking), scoring deterministic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•  Enricher orchestration, ORM model methods, certification tiers, citation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B6B6B"/>
                </a:solidFill>
                <a:latin typeface="Consolas"/>
              </a:defRPr>
            </a:pPr>
            <a:r>
              <a:t>Run with:  cd backend &amp;&amp; uv run pytest -v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B6B6B"/>
                </a:solidFill>
                <a:latin typeface="Consolas"/>
              </a:defRPr>
            </a:pPr>
            <a: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B6B6B"/>
                </a:solidFill>
                <a:latin typeface="Consolas"/>
              </a:defRPr>
            </a:pPr>
            <a: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B6B6B"/>
                </a:solidFill>
                <a:latin typeface="Consolas"/>
              </a:defRPr>
            </a:pPr>
            <a: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128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Next.js 16 + React 19 + Tailwind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128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App Router, server components, brand 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883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FastAPI + Python 3.9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883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Async-native, auto-generated OpenAPI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638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Research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638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Perplexity sonar-pro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1638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Web search with grounded citations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Scoring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393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OpenAI gpt-4o-mini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6393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Structured JSON output, lowest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SQLite (SQLAlchemy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Zero-config, swap to Postgres with one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90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Scraping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590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Playwright (Chromium)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5902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Bypasses Akamai bot detection, Coveo API interception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657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657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argparse + async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0657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Independent stage execution with --force, --limit, --concurrency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41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5412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pytest (119 tests)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54126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71717"/>
                </a:solidFill>
                <a:latin typeface="Calibri"/>
              </a:defRPr>
            </a:pPr>
            <a:r>
              <a:t>In-memory SQLite, async mocking, TestClient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Scalability: Built to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Database → Postgres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737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One connection string change. Add Alembic migrations, JSONB with GIN indexes, pgBouncer pooling.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Pipeline → Celery + Redis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514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Async task queue for pipeline execution. Fan out scraping across ZIP codes in parallel workers.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Search → Full-Text + 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91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Postgres tsvector for name/address lookup. pgvector for semantic search over research summaries.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Auth → Multi-Tenant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069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JWT authentication. Territory assignment — each rep sees leads in their region. Row-level security.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846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Structured logging, LLM token/latency tracking, pipeline health dashboard with alerting.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1717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623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04040"/>
                </a:solidFill>
                <a:latin typeface="Calibri"/>
              </a:defRPr>
            </a:pPr>
            <a:r>
              <a:t>CRM export (Salesforce, HubSpot). Email integration — send drafted emails from the platform.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Coveo API interception instead of DOM scraping?</a:t>
            </a:r>
            <a:br/>
            <a:r>
              <a:t>→  Structured JSON is more reliable, faster, and survives UI redesigns. DOM parsing is fragile.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Perplexity + OpenAI instead of one model?</a:t>
            </a:r>
            <a:br/>
            <a:r>
              <a:t>→  Perplexity excels at grounded web search with citations. OpenAI excels at structured JSON output. Each does what it’s best at.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hybrid scoring instead of fully LLM?</a:t>
            </a:r>
            <a:br/>
            <a:r>
              <a:t>→  Deterministic where objectively knowable (certifications, reviews). LLM where reading comprehension is required (growth signals, urgency). Reproducible + intelligent.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SQLite instead of Postgres?</a:t>
            </a:r>
            <a:br/>
            <a:r>
              <a:t>→  Zero-config for the demo. SQLAlchemy ORM makes the swap a one-line change. Schema is already Postgres-ready (JSONB, indexes).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sync API handlers?</a:t>
            </a:r>
            <a:br/>
            <a:r>
              <a:t>→  Enricher uses asyncio.run() internally. Async handlers would crash (nested event loops). FastAPI’s thread pool handles this transparently.</a:t>
            </a:r>
          </a:p>
          <a:p>
            <a:pPr>
              <a:spcAft>
                <a:spcPts val="1000"/>
              </a:spcAft>
              <a:defRPr sz="1500">
                <a:solidFill>
                  <a:srgbClr val="171717"/>
                </a:solidFill>
                <a:latin typeface="Calibri"/>
              </a:defRPr>
            </a:pPr>
            <a:r>
              <a:t>Why separate list vs. detail schemas?</a:t>
            </a:r>
            <a:br/>
            <a:r>
              <a:t>→  List endpoint returns ~12 fields per row. Detail returns multi-KB text fields. Separate schemas avoid serializing research_summary for every table row.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6B6B"/>
                </a:solidFill>
                <a:latin typeface="Calibri"/>
              </a:defRPr>
            </a:pPr>
            <a:r>
              <a:t>Roofing Lead Intelligence Platform — Aryaman Gupta | Instalily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171717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Contractors scraped</a:t>
            </a:r>
            <a:br/>
            <a:r>
              <a:t>and enriched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3736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Backend tests</a:t>
            </a:r>
            <a:br/>
            <a:r>
              <a:t>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73736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Frontend</a:t>
            </a:r>
            <a:br/>
            <a:r>
              <a:t>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73736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~$0.05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560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Total cost to score</a:t>
            </a:r>
            <a:br/>
            <a:r>
              <a:t>all 78 leads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AI enrichment</a:t>
            </a:r>
            <a:br/>
            <a:r>
              <a:t>stages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47472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97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47472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611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Pydantic</a:t>
            </a:r>
            <a:br/>
            <a:r>
              <a:t>schemas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47472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3611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17171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297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404040"/>
                </a:solidFill>
                <a:latin typeface="Calibri"/>
              </a:defRPr>
            </a:pPr>
            <a:r>
              <a:t>Score breakdown</a:t>
            </a:r>
            <a:br/>
            <a:r>
              <a:t>factors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Roofing Lead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A0A0A0"/>
                </a:solidFill>
                <a:latin typeface="Calibri"/>
              </a:defRPr>
            </a:pPr>
            <a:r>
              <a:t>•  End-to-End Pipeline — Scrape, research, score, extract contacts, serve via API, display in dashboard</a:t>
            </a:r>
          </a:p>
          <a:p>
            <a:pPr>
              <a:spcAft>
                <a:spcPts val="1400"/>
              </a:spcAft>
              <a:defRPr sz="1800">
                <a:solidFill>
                  <a:srgbClr val="A0A0A0"/>
                </a:solidFill>
                <a:latin typeface="Calibri"/>
              </a:defRPr>
            </a:pPr>
            <a:r>
              <a:t>•  Hybrid AI Scoring — Deterministic + LLM for reproducibility and intelligence</a:t>
            </a:r>
          </a:p>
          <a:p>
            <a:pPr>
              <a:spcAft>
                <a:spcPts val="1400"/>
              </a:spcAft>
              <a:defRPr sz="1800">
                <a:solidFill>
                  <a:srgbClr val="A0A0A0"/>
                </a:solidFill>
                <a:latin typeface="Calibri"/>
              </a:defRPr>
            </a:pPr>
            <a:r>
              <a:t>•  Actionable Intelligence — Talking points, buying signals, pain points, draft emails, decision-maker contacts</a:t>
            </a:r>
          </a:p>
          <a:p>
            <a:pPr>
              <a:spcAft>
                <a:spcPts val="1400"/>
              </a:spcAft>
              <a:defRPr sz="1800">
                <a:solidFill>
                  <a:srgbClr val="A0A0A0"/>
                </a:solidFill>
                <a:latin typeface="Calibri"/>
              </a:defRPr>
            </a:pPr>
            <a:r>
              <a:t>•  Production-Ready Architecture — 119 tests, clean separation, scales to Postgres/Celery with minimal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Built by Aryaman Gupta for Instalily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